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A17"/>
        </a:solidFill>
        <a:effectLst/>
      </p:bgPr>
    </p:bg>
    <p:spTree>
      <p:nvGrpSpPr>
        <p:cNvPr id="1" name=""/>
        <p:cNvGrpSpPr/>
        <p:nvPr/>
      </p:nvGrpSpPr>
      <p:grpSpPr>
        <a:xfrm>
          <a:off x="0" y="0"/>
          <a:ext cx="0" cy="0"/>
          <a:chOff x="0" y="0"/>
          <a:chExt cx="0" cy="0"/>
        </a:xfrm>
      </p:grpSpPr>
      <p:sp>
        <p:nvSpPr>
          <p:cNvPr id="2" name="Text 0"/>
          <p:cNvSpPr txBox="1"/>
          <p:nvPr/>
        </p:nvSpPr>
        <p:spPr>
          <a:xfrm>
            <a:off x="548640" y="658495"/>
            <a:ext cx="9630410" cy="499110"/>
          </a:xfrm>
          <a:prstGeom prst="rect">
            <a:avLst/>
          </a:prstGeom>
          <a:noFill/>
        </p:spPr>
        <p:txBody>
          <a:bodyPr wrap="square" lIns="0" tIns="0" rIns="0" bIns="0" rtlCol="0" anchor="ctr"/>
          <a:lstStyle/>
          <a:p>
            <a:pPr marL="0" indent="0">
              <a:buNone/>
            </a:pPr>
            <a:r>
              <a:rPr lang="en-US" sz="2400" b="1" dirty="0">
                <a:solidFill>
                  <a:schemeClr val="accent6"/>
                </a:solidFill>
                <a:latin typeface="Calibri" pitchFamily="34" charset="0"/>
                <a:ea typeface="Calibri" pitchFamily="34" charset="-122"/>
                <a:cs typeface="Calibri" pitchFamily="34" charset="-120"/>
              </a:rPr>
              <a:t>Avartan Sustainability Ideathon · Track 8</a:t>
            </a:r>
            <a:endParaRPr lang="en-US" sz="2400" b="1" dirty="0">
              <a:solidFill>
                <a:schemeClr val="accent6"/>
              </a:solidFill>
              <a:latin typeface="Calibri" pitchFamily="34" charset="0"/>
              <a:ea typeface="Calibri" pitchFamily="34" charset="-122"/>
              <a:cs typeface="Calibri" pitchFamily="34" charset="-120"/>
            </a:endParaRPr>
          </a:p>
        </p:txBody>
      </p:sp>
      <p:sp>
        <p:nvSpPr>
          <p:cNvPr id="3" name="Text 1"/>
          <p:cNvSpPr txBox="1"/>
          <p:nvPr/>
        </p:nvSpPr>
        <p:spPr>
          <a:xfrm>
            <a:off x="548640" y="1288415"/>
            <a:ext cx="4817745" cy="709295"/>
          </a:xfrm>
          <a:prstGeom prst="rect">
            <a:avLst/>
          </a:prstGeom>
          <a:noFill/>
        </p:spPr>
        <p:txBody>
          <a:bodyPr wrap="square" lIns="0" tIns="0" rIns="0" bIns="0" rtlCol="0" anchor="ctr"/>
          <a:lstStyle/>
          <a:p>
            <a:pPr marL="0" indent="0">
              <a:buNone/>
            </a:pPr>
            <a:r>
              <a:rPr lang="en-US" sz="1600" b="1" dirty="0">
                <a:solidFill>
                  <a:srgbClr val="EEF2EF"/>
                </a:solidFill>
                <a:latin typeface="Cambria" pitchFamily="34" charset="0"/>
                <a:ea typeface="Cambria" pitchFamily="34" charset="-122"/>
                <a:cs typeface="Cambria" pitchFamily="34" charset="-120"/>
              </a:rPr>
              <a:t>The Feeder as a power plant</a:t>
            </a:r>
            <a:endParaRPr lang="en-US" sz="1600" dirty="0"/>
          </a:p>
        </p:txBody>
      </p:sp>
      <p:sp>
        <p:nvSpPr>
          <p:cNvPr id="4" name="Text 2"/>
          <p:cNvSpPr txBox="1"/>
          <p:nvPr/>
        </p:nvSpPr>
        <p:spPr>
          <a:xfrm>
            <a:off x="382905" y="1997710"/>
            <a:ext cx="7314565" cy="1149350"/>
          </a:xfrm>
          <a:prstGeom prst="rect">
            <a:avLst/>
          </a:prstGeom>
          <a:noFill/>
        </p:spPr>
        <p:txBody>
          <a:bodyPr wrap="square" lIns="0" tIns="0" rIns="0" bIns="0" rtlCol="0" anchor="ctr"/>
          <a:lstStyle/>
          <a:p>
            <a:pPr marL="285750" indent="-285750">
              <a:lnSpc>
                <a:spcPct val="135000"/>
              </a:lnSpc>
              <a:buFont typeface="Arial" panose="020B0604020202090204" pitchFamily="34" charset="0"/>
              <a:buChar char="•"/>
            </a:pPr>
            <a:r>
              <a:rPr lang="en-US" dirty="0">
                <a:solidFill>
                  <a:srgbClr val="93A39D"/>
                </a:solidFill>
                <a:latin typeface="Calibri" pitchFamily="34" charset="0"/>
                <a:ea typeface="Calibri" pitchFamily="34" charset="-122"/>
                <a:cs typeface="Calibri" pitchFamily="34" charset="-120"/>
              </a:rPr>
              <a:t>Coordinating existing home batteries on an 11 kV feeder to flatten the load curve, respect every household’s backup reserve, and pay homeowners fairly without new hardware.</a:t>
            </a:r>
            <a:endParaRPr lang="en-US" dirty="0"/>
          </a:p>
        </p:txBody>
      </p:sp>
      <p:sp>
        <p:nvSpPr>
          <p:cNvPr id="5" name="Text 3"/>
          <p:cNvSpPr txBox="1"/>
          <p:nvPr/>
        </p:nvSpPr>
        <p:spPr>
          <a:xfrm>
            <a:off x="688340" y="5118227"/>
            <a:ext cx="5486400" cy="274320"/>
          </a:xfrm>
          <a:prstGeom prst="rect">
            <a:avLst/>
          </a:prstGeom>
          <a:noFill/>
        </p:spPr>
        <p:txBody>
          <a:bodyPr wrap="square" lIns="0" tIns="0" rIns="0" bIns="0" rtlCol="0" anchor="ctr"/>
          <a:lstStyle/>
          <a:p>
            <a:pPr marL="0" indent="0">
              <a:buNone/>
            </a:pPr>
            <a:r>
              <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   </a:t>
            </a:r>
            <a:endPar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endParaRPr>
          </a:p>
          <a:p>
            <a:pPr marL="0" indent="0">
              <a:buNone/>
            </a:pPr>
            <a:r>
              <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 </a:t>
            </a:r>
            <a:endPar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endParaRPr>
          </a:p>
          <a:p>
            <a:pPr marL="0" indent="0">
              <a:buNone/>
            </a:pPr>
            <a:r>
              <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Members :</a:t>
            </a:r>
            <a:endPar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endParaRPr>
          </a:p>
          <a:p>
            <a:pPr marL="0" indent="0">
              <a:buNone/>
            </a:pPr>
            <a:r>
              <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Jenil Charadva </a:t>
            </a:r>
            <a:endPar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endParaRPr>
          </a:p>
          <a:p>
            <a:pPr marL="0" indent="0">
              <a:buNone/>
            </a:pPr>
            <a:r>
              <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DhruvJodhani </a:t>
            </a:r>
            <a:endPar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endParaRPr>
          </a:p>
          <a:p>
            <a:pPr marL="0" indent="0">
              <a:buNone/>
            </a:pPr>
            <a:r>
              <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Jay Patel</a:t>
            </a:r>
            <a:endParaRPr lang="en-US" dirty="0"/>
          </a:p>
        </p:txBody>
      </p:sp>
      <p:sp>
        <p:nvSpPr>
          <p:cNvPr id="6" name="Text 4"/>
          <p:cNvSpPr txBox="1"/>
          <p:nvPr/>
        </p:nvSpPr>
        <p:spPr>
          <a:xfrm>
            <a:off x="8899855" y="6473952"/>
            <a:ext cx="2743200" cy="274320"/>
          </a:xfrm>
          <a:prstGeom prst="rect">
            <a:avLst/>
          </a:prstGeom>
          <a:noFill/>
        </p:spPr>
        <p:txBody>
          <a:bodyPr wrap="square" lIns="0" tIns="0" rIns="0" bIns="0" rtlCol="0" anchor="ctr"/>
          <a:lstStyle/>
          <a:p>
            <a:pPr marL="0" indent="0" algn="r">
              <a:buNone/>
            </a:pPr>
            <a:endParaRPr lang="en-US" sz="1000" dirty="0"/>
          </a:p>
        </p:txBody>
      </p:sp>
      <p:sp>
        <p:nvSpPr>
          <p:cNvPr id="10" name="Text Box 9"/>
          <p:cNvSpPr txBox="1"/>
          <p:nvPr/>
        </p:nvSpPr>
        <p:spPr>
          <a:xfrm>
            <a:off x="548640" y="4573270"/>
            <a:ext cx="4064000" cy="368300"/>
          </a:xfrm>
          <a:prstGeom prst="rect">
            <a:avLst/>
          </a:prstGeom>
          <a:noFill/>
        </p:spPr>
        <p:txBody>
          <a:bodyPr wrap="square" rtlCol="0">
            <a:spAutoFit/>
          </a:bodyPr>
          <a:p>
            <a:r>
              <a:rPr lang="en-US" dirty="0">
                <a:solidFill>
                  <a:srgbClr val="93A39D"/>
                </a:solidFill>
                <a:latin typeface="Courier New" panose="02070409020205090404" pitchFamily="34" charset="0"/>
                <a:ea typeface="Courier New" panose="02070409020205090404" pitchFamily="34" charset="-122"/>
                <a:cs typeface="Courier New" panose="02070409020205090404" pitchFamily="34" charset="-120"/>
                <a:sym typeface="+mn-ea"/>
              </a:rPr>
              <a:t>Team Name: Idea_buzz </a:t>
            </a:r>
            <a:endParaRPr lang="en-US"/>
          </a:p>
        </p:txBody>
      </p:sp>
      <p:pic>
        <p:nvPicPr>
          <p:cNvPr id="11" name="Picture 10" descr="WhatsApp Image 2026-09-27 at 06.17.46"/>
          <p:cNvPicPr>
            <a:picLocks noChangeAspect="1"/>
          </p:cNvPicPr>
          <p:nvPr/>
        </p:nvPicPr>
        <p:blipFill>
          <a:blip r:embed="rId1"/>
          <a:stretch>
            <a:fillRect/>
          </a:stretch>
        </p:blipFill>
        <p:spPr>
          <a:xfrm>
            <a:off x="6251575" y="2984500"/>
            <a:ext cx="5546725" cy="3489325"/>
          </a:xfrm>
          <a:prstGeom prst="rect">
            <a:avLst/>
          </a:prstGeom>
        </p:spPr>
      </p:pic>
      <p:pic>
        <p:nvPicPr>
          <p:cNvPr id="12" name="Picture 11" descr="WhatsApp Image 2026-09-27 at 06.19.23"/>
          <p:cNvPicPr>
            <a:picLocks noChangeAspect="1"/>
          </p:cNvPicPr>
          <p:nvPr/>
        </p:nvPicPr>
        <p:blipFill>
          <a:blip r:embed="rId2"/>
          <a:stretch>
            <a:fillRect/>
          </a:stretch>
        </p:blipFill>
        <p:spPr>
          <a:xfrm>
            <a:off x="10554335" y="173355"/>
            <a:ext cx="1243965" cy="12426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A17"/>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p:spPr>
        <p:txBody>
          <a:bodyPr wrap="square" lIns="0" tIns="0" rIns="0" bIns="0" rtlCol="0" anchor="ctr"/>
          <a:lstStyle/>
          <a:p>
            <a:pPr marL="0" indent="0">
              <a:buNone/>
            </a:pPr>
            <a:r>
              <a:rPr lang="en-US" sz="2400" b="1" dirty="0">
                <a:ln w="15875"/>
                <a:solidFill>
                  <a:schemeClr val="accent6"/>
                </a:solidFill>
                <a:effectLst/>
                <a:latin typeface="Calibri" pitchFamily="34" charset="0"/>
                <a:ea typeface="Calibri" pitchFamily="34" charset="-122"/>
                <a:cs typeface="Calibri" pitchFamily="34" charset="-120"/>
              </a:rPr>
              <a:t>Problem</a:t>
            </a:r>
            <a:endParaRPr lang="en-US" sz="2400" b="1" dirty="0">
              <a:ln w="15875"/>
              <a:solidFill>
                <a:schemeClr val="accent6"/>
              </a:solidFill>
              <a:effectLst/>
              <a:latin typeface="Calibri" pitchFamily="34" charset="0"/>
              <a:ea typeface="Calibri" pitchFamily="34" charset="-122"/>
              <a:cs typeface="Calibri" pitchFamily="34" charset="-120"/>
            </a:endParaRPr>
          </a:p>
        </p:txBody>
      </p:sp>
      <p:sp>
        <p:nvSpPr>
          <p:cNvPr id="3" name="Text 1"/>
          <p:cNvSpPr txBox="1"/>
          <p:nvPr/>
        </p:nvSpPr>
        <p:spPr>
          <a:xfrm>
            <a:off x="548640" y="713232"/>
            <a:ext cx="11064240" cy="822960"/>
          </a:xfrm>
          <a:prstGeom prst="rect">
            <a:avLst/>
          </a:prstGeom>
          <a:noFill/>
        </p:spPr>
        <p:txBody>
          <a:bodyPr wrap="square" lIns="0" tIns="0" rIns="0" bIns="0" rtlCol="0" anchor="ctr"/>
          <a:lstStyle/>
          <a:p>
            <a:pPr marL="0" indent="0">
              <a:buNone/>
            </a:pPr>
            <a:r>
              <a:rPr lang="en-US" b="1" dirty="0">
                <a:solidFill>
                  <a:srgbClr val="EEF2EF"/>
                </a:solidFill>
                <a:latin typeface="Cambria" pitchFamily="34" charset="0"/>
                <a:ea typeface="Cambria" pitchFamily="34" charset="-122"/>
                <a:cs typeface="Cambria" pitchFamily="34" charset="-120"/>
              </a:rPr>
              <a:t>This is a coordination gap, not a hardware gap</a:t>
            </a:r>
            <a:endParaRPr lang="en-US" dirty="0"/>
          </a:p>
        </p:txBody>
      </p:sp>
      <p:sp>
        <p:nvSpPr>
          <p:cNvPr id="4" name="Text 2"/>
          <p:cNvSpPr txBox="1"/>
          <p:nvPr/>
        </p:nvSpPr>
        <p:spPr>
          <a:xfrm>
            <a:off x="548640" y="1600200"/>
            <a:ext cx="10515600" cy="457200"/>
          </a:xfrm>
          <a:prstGeom prst="rect">
            <a:avLst/>
          </a:prstGeom>
          <a:noFill/>
        </p:spPr>
        <p:txBody>
          <a:bodyPr wrap="square" lIns="0" tIns="0" rIns="0" bIns="0" rtlCol="0" anchor="ctr"/>
          <a:lstStyle/>
          <a:p>
            <a:pPr marL="0" indent="0">
              <a:buNone/>
            </a:pPr>
            <a:r>
              <a:rPr lang="en-US" sz="1500" dirty="0">
                <a:solidFill>
                  <a:srgbClr val="93A39D"/>
                </a:solidFill>
                <a:latin typeface="Calibri" pitchFamily="34" charset="0"/>
                <a:ea typeface="Calibri" pitchFamily="34" charset="-122"/>
                <a:cs typeface="Calibri" pitchFamily="34" charset="-120"/>
              </a:rPr>
              <a:t>The batteries and inverters already exist on these feeders. What’s missing sits in five places.</a:t>
            </a:r>
            <a:endParaRPr lang="en-US" sz="1500" dirty="0"/>
          </a:p>
        </p:txBody>
      </p:sp>
      <p:sp>
        <p:nvSpPr>
          <p:cNvPr id="5" name="Text 3"/>
          <p:cNvSpPr txBox="1"/>
          <p:nvPr/>
        </p:nvSpPr>
        <p:spPr>
          <a:xfrm>
            <a:off x="548640" y="2313432"/>
            <a:ext cx="2377440" cy="621792"/>
          </a:xfrm>
          <a:prstGeom prst="rect">
            <a:avLst/>
          </a:prstGeom>
          <a:noFill/>
        </p:spPr>
        <p:txBody>
          <a:bodyPr wrap="square" lIns="0" tIns="0" rIns="0" bIns="0" rtlCol="0" anchor="t"/>
          <a:lstStyle/>
          <a:p>
            <a:pPr marL="0" indent="0">
              <a:buNone/>
            </a:pPr>
            <a:r>
              <a:rPr lang="en-US" sz="1500" b="1" dirty="0">
                <a:solidFill>
                  <a:srgbClr val="EEF2EF"/>
                </a:solidFill>
                <a:latin typeface="Calibri" pitchFamily="34" charset="0"/>
                <a:ea typeface="Calibri" pitchFamily="34" charset="-122"/>
                <a:cs typeface="Calibri" pitchFamily="34" charset="-120"/>
              </a:rPr>
              <a:t>Visibility</a:t>
            </a:r>
            <a:endParaRPr lang="en-US" sz="1500" dirty="0"/>
          </a:p>
        </p:txBody>
      </p:sp>
      <p:sp>
        <p:nvSpPr>
          <p:cNvPr id="6" name="Text 4"/>
          <p:cNvSpPr txBox="1"/>
          <p:nvPr/>
        </p:nvSpPr>
        <p:spPr>
          <a:xfrm>
            <a:off x="3108960" y="2313432"/>
            <a:ext cx="8321040" cy="621792"/>
          </a:xfrm>
          <a:prstGeom prst="rect">
            <a:avLst/>
          </a:prstGeom>
          <a:noFill/>
        </p:spPr>
        <p:txBody>
          <a:bodyPr wrap="square" lIns="0" tIns="0" rIns="0" bIns="0" rtlCol="0" anchor="t"/>
          <a:lstStyle/>
          <a:p>
            <a:pPr marL="0" indent="0">
              <a:lnSpc>
                <a:spcPct val="125000"/>
              </a:lnSpc>
              <a:buNone/>
            </a:pPr>
            <a:r>
              <a:rPr lang="en-US" sz="1400" dirty="0">
                <a:solidFill>
                  <a:srgbClr val="93A39D"/>
                </a:solidFill>
                <a:latin typeface="Calibri" pitchFamily="34" charset="0"/>
                <a:ea typeface="Calibri" pitchFamily="34" charset="-122"/>
                <a:cs typeface="Calibri" pitchFamily="34" charset="-120"/>
              </a:rPr>
              <a:t>No feeder-level view of individual battery state of charge, reserve setting, or generation.</a:t>
            </a:r>
            <a:endParaRPr lang="en-US" sz="1400" dirty="0"/>
          </a:p>
        </p:txBody>
      </p:sp>
      <p:sp>
        <p:nvSpPr>
          <p:cNvPr id="7" name="Shape 5"/>
          <p:cNvSpPr/>
          <p:nvPr/>
        </p:nvSpPr>
        <p:spPr>
          <a:xfrm>
            <a:off x="548640" y="2953512"/>
            <a:ext cx="11064240" cy="0"/>
          </a:xfrm>
          <a:prstGeom prst="line">
            <a:avLst/>
          </a:prstGeom>
          <a:noFill/>
          <a:ln w="12700">
            <a:solidFill>
              <a:srgbClr val="26342F"/>
            </a:solidFill>
            <a:prstDash val="solid"/>
          </a:ln>
        </p:spPr>
      </p:sp>
      <p:sp>
        <p:nvSpPr>
          <p:cNvPr id="8" name="Text 6"/>
          <p:cNvSpPr txBox="1"/>
          <p:nvPr/>
        </p:nvSpPr>
        <p:spPr>
          <a:xfrm>
            <a:off x="548640" y="3026664"/>
            <a:ext cx="2377440" cy="621792"/>
          </a:xfrm>
          <a:prstGeom prst="rect">
            <a:avLst/>
          </a:prstGeom>
          <a:noFill/>
        </p:spPr>
        <p:txBody>
          <a:bodyPr wrap="square" lIns="0" tIns="0" rIns="0" bIns="0" rtlCol="0" anchor="t"/>
          <a:lstStyle/>
          <a:p>
            <a:pPr marL="0" indent="0">
              <a:buNone/>
            </a:pPr>
            <a:r>
              <a:rPr lang="en-US" sz="1500" b="1" dirty="0">
                <a:solidFill>
                  <a:srgbClr val="EEF2EF"/>
                </a:solidFill>
                <a:latin typeface="Calibri" pitchFamily="34" charset="0"/>
                <a:ea typeface="Calibri" pitchFamily="34" charset="-122"/>
                <a:cs typeface="Calibri" pitchFamily="34" charset="-120"/>
              </a:rPr>
              <a:t>Interoperability</a:t>
            </a:r>
            <a:endParaRPr lang="en-US" sz="1500" dirty="0"/>
          </a:p>
        </p:txBody>
      </p:sp>
      <p:sp>
        <p:nvSpPr>
          <p:cNvPr id="9" name="Text 7"/>
          <p:cNvSpPr txBox="1"/>
          <p:nvPr/>
        </p:nvSpPr>
        <p:spPr>
          <a:xfrm>
            <a:off x="3108960" y="3026664"/>
            <a:ext cx="8321040" cy="621792"/>
          </a:xfrm>
          <a:prstGeom prst="rect">
            <a:avLst/>
          </a:prstGeom>
          <a:noFill/>
        </p:spPr>
        <p:txBody>
          <a:bodyPr wrap="square" lIns="0" tIns="0" rIns="0" bIns="0" rtlCol="0" anchor="t"/>
          <a:lstStyle/>
          <a:p>
            <a:pPr marL="0" indent="0">
              <a:lnSpc>
                <a:spcPct val="125000"/>
              </a:lnSpc>
              <a:buNone/>
            </a:pPr>
            <a:r>
              <a:rPr lang="en-US" sz="1400" dirty="0">
                <a:solidFill>
                  <a:srgbClr val="93A39D"/>
                </a:solidFill>
                <a:latin typeface="Calibri" pitchFamily="34" charset="0"/>
                <a:ea typeface="Calibri" pitchFamily="34" charset="-122"/>
                <a:cs typeface="Calibri" pitchFamily="34" charset="-120"/>
              </a:rPr>
              <a:t>No common protocol across inverter brands, every vendor speaks its own language.</a:t>
            </a:r>
            <a:endParaRPr lang="en-US" sz="1400" dirty="0"/>
          </a:p>
        </p:txBody>
      </p:sp>
      <p:sp>
        <p:nvSpPr>
          <p:cNvPr id="10" name="Shape 8"/>
          <p:cNvSpPr/>
          <p:nvPr/>
        </p:nvSpPr>
        <p:spPr>
          <a:xfrm>
            <a:off x="548640" y="3666744"/>
            <a:ext cx="11064240" cy="0"/>
          </a:xfrm>
          <a:prstGeom prst="line">
            <a:avLst/>
          </a:prstGeom>
          <a:noFill/>
          <a:ln w="12700">
            <a:solidFill>
              <a:srgbClr val="26342F"/>
            </a:solidFill>
            <a:prstDash val="solid"/>
          </a:ln>
        </p:spPr>
      </p:sp>
      <p:sp>
        <p:nvSpPr>
          <p:cNvPr id="11" name="Text 9"/>
          <p:cNvSpPr txBox="1"/>
          <p:nvPr/>
        </p:nvSpPr>
        <p:spPr>
          <a:xfrm>
            <a:off x="548640" y="3739896"/>
            <a:ext cx="2377440" cy="621792"/>
          </a:xfrm>
          <a:prstGeom prst="rect">
            <a:avLst/>
          </a:prstGeom>
          <a:noFill/>
        </p:spPr>
        <p:txBody>
          <a:bodyPr wrap="square" lIns="0" tIns="0" rIns="0" bIns="0" rtlCol="0" anchor="t"/>
          <a:lstStyle/>
          <a:p>
            <a:pPr marL="0" indent="0">
              <a:buNone/>
            </a:pPr>
            <a:r>
              <a:rPr lang="en-US" sz="1500" b="1" dirty="0">
                <a:solidFill>
                  <a:srgbClr val="EEF2EF"/>
                </a:solidFill>
                <a:latin typeface="Calibri" pitchFamily="34" charset="0"/>
                <a:ea typeface="Calibri" pitchFamily="34" charset="-122"/>
                <a:cs typeface="Calibri" pitchFamily="34" charset="-120"/>
              </a:rPr>
              <a:t>Settlement</a:t>
            </a:r>
            <a:endParaRPr lang="en-US" sz="1500" dirty="0"/>
          </a:p>
        </p:txBody>
      </p:sp>
      <p:sp>
        <p:nvSpPr>
          <p:cNvPr id="12" name="Text 10"/>
          <p:cNvSpPr txBox="1"/>
          <p:nvPr/>
        </p:nvSpPr>
        <p:spPr>
          <a:xfrm>
            <a:off x="3108960" y="3739896"/>
            <a:ext cx="8321040" cy="621792"/>
          </a:xfrm>
          <a:prstGeom prst="rect">
            <a:avLst/>
          </a:prstGeom>
          <a:noFill/>
        </p:spPr>
        <p:txBody>
          <a:bodyPr wrap="square" lIns="0" tIns="0" rIns="0" bIns="0" rtlCol="0" anchor="t"/>
          <a:lstStyle/>
          <a:p>
            <a:pPr marL="0" indent="0">
              <a:lnSpc>
                <a:spcPct val="125000"/>
              </a:lnSpc>
              <a:buNone/>
            </a:pPr>
            <a:r>
              <a:rPr lang="en-US" sz="1400" dirty="0">
                <a:solidFill>
                  <a:srgbClr val="93A39D"/>
                </a:solidFill>
                <a:latin typeface="Calibri" pitchFamily="34" charset="0"/>
                <a:ea typeface="Calibri" pitchFamily="34" charset="-122"/>
                <a:cs typeface="Calibri" pitchFamily="34" charset="-120"/>
              </a:rPr>
              <a:t>No structure that pays homeowners for dispatched energy without threatening their own backup power.</a:t>
            </a:r>
            <a:endParaRPr lang="en-US" sz="1400" dirty="0"/>
          </a:p>
        </p:txBody>
      </p:sp>
      <p:sp>
        <p:nvSpPr>
          <p:cNvPr id="13" name="Shape 11"/>
          <p:cNvSpPr/>
          <p:nvPr/>
        </p:nvSpPr>
        <p:spPr>
          <a:xfrm>
            <a:off x="548640" y="4379976"/>
            <a:ext cx="11064240" cy="0"/>
          </a:xfrm>
          <a:prstGeom prst="line">
            <a:avLst/>
          </a:prstGeom>
          <a:noFill/>
          <a:ln w="12700">
            <a:solidFill>
              <a:srgbClr val="26342F"/>
            </a:solidFill>
            <a:prstDash val="solid"/>
          </a:ln>
        </p:spPr>
      </p:sp>
      <p:sp>
        <p:nvSpPr>
          <p:cNvPr id="14" name="Text 12"/>
          <p:cNvSpPr txBox="1"/>
          <p:nvPr/>
        </p:nvSpPr>
        <p:spPr>
          <a:xfrm>
            <a:off x="548640" y="4453128"/>
            <a:ext cx="2377440" cy="621792"/>
          </a:xfrm>
          <a:prstGeom prst="rect">
            <a:avLst/>
          </a:prstGeom>
          <a:noFill/>
        </p:spPr>
        <p:txBody>
          <a:bodyPr wrap="square" lIns="0" tIns="0" rIns="0" bIns="0" rtlCol="0" anchor="t"/>
          <a:lstStyle/>
          <a:p>
            <a:pPr marL="0" indent="0">
              <a:buNone/>
            </a:pPr>
            <a:r>
              <a:rPr lang="en-US" sz="1500" b="1" dirty="0">
                <a:solidFill>
                  <a:srgbClr val="EEF2EF"/>
                </a:solidFill>
                <a:latin typeface="Calibri" pitchFamily="34" charset="0"/>
                <a:ea typeface="Calibri" pitchFamily="34" charset="-122"/>
                <a:cs typeface="Calibri" pitchFamily="34" charset="-120"/>
              </a:rPr>
              <a:t>Trust</a:t>
            </a:r>
            <a:endParaRPr lang="en-US" sz="1500" dirty="0"/>
          </a:p>
        </p:txBody>
      </p:sp>
      <p:sp>
        <p:nvSpPr>
          <p:cNvPr id="15" name="Text 13"/>
          <p:cNvSpPr txBox="1"/>
          <p:nvPr/>
        </p:nvSpPr>
        <p:spPr>
          <a:xfrm>
            <a:off x="3108960" y="4453128"/>
            <a:ext cx="8321040" cy="621792"/>
          </a:xfrm>
          <a:prstGeom prst="rect">
            <a:avLst/>
          </a:prstGeom>
          <a:noFill/>
        </p:spPr>
        <p:txBody>
          <a:bodyPr wrap="square" lIns="0" tIns="0" rIns="0" bIns="0" rtlCol="0" anchor="t"/>
          <a:lstStyle/>
          <a:p>
            <a:pPr marL="0" indent="0">
              <a:lnSpc>
                <a:spcPct val="125000"/>
              </a:lnSpc>
              <a:buNone/>
            </a:pPr>
            <a:r>
              <a:rPr lang="en-US" sz="1400" dirty="0">
                <a:solidFill>
                  <a:srgbClr val="93A39D"/>
                </a:solidFill>
                <a:latin typeface="Calibri" pitchFamily="34" charset="0"/>
                <a:ea typeface="Calibri" pitchFamily="34" charset="-122"/>
                <a:cs typeface="Calibri" pitchFamily="34" charset="-120"/>
              </a:rPr>
              <a:t>No mechanism that makes homeowners comfortable ceding any control over their battery.</a:t>
            </a:r>
            <a:endParaRPr lang="en-US" sz="1400" dirty="0"/>
          </a:p>
        </p:txBody>
      </p:sp>
      <p:sp>
        <p:nvSpPr>
          <p:cNvPr id="16" name="Shape 14"/>
          <p:cNvSpPr/>
          <p:nvPr/>
        </p:nvSpPr>
        <p:spPr>
          <a:xfrm>
            <a:off x="548640" y="5093208"/>
            <a:ext cx="11064240" cy="0"/>
          </a:xfrm>
          <a:prstGeom prst="line">
            <a:avLst/>
          </a:prstGeom>
          <a:noFill/>
          <a:ln w="12700">
            <a:solidFill>
              <a:srgbClr val="26342F"/>
            </a:solidFill>
            <a:prstDash val="solid"/>
          </a:ln>
        </p:spPr>
      </p:sp>
      <p:sp>
        <p:nvSpPr>
          <p:cNvPr id="17" name="Text 15"/>
          <p:cNvSpPr txBox="1"/>
          <p:nvPr/>
        </p:nvSpPr>
        <p:spPr>
          <a:xfrm>
            <a:off x="548640" y="5166360"/>
            <a:ext cx="2377440" cy="621792"/>
          </a:xfrm>
          <a:prstGeom prst="rect">
            <a:avLst/>
          </a:prstGeom>
          <a:noFill/>
        </p:spPr>
        <p:txBody>
          <a:bodyPr wrap="square" lIns="0" tIns="0" rIns="0" bIns="0" rtlCol="0" anchor="t"/>
          <a:lstStyle/>
          <a:p>
            <a:pPr marL="0" indent="0">
              <a:buNone/>
            </a:pPr>
            <a:r>
              <a:rPr lang="en-US" sz="1500" b="1" dirty="0">
                <a:solidFill>
                  <a:srgbClr val="EEF2EF"/>
                </a:solidFill>
                <a:latin typeface="Calibri" pitchFamily="34" charset="0"/>
                <a:ea typeface="Calibri" pitchFamily="34" charset="-122"/>
                <a:cs typeface="Calibri" pitchFamily="34" charset="-120"/>
              </a:rPr>
              <a:t>DISCOM value</a:t>
            </a:r>
            <a:endParaRPr lang="en-US" sz="1500" dirty="0"/>
          </a:p>
        </p:txBody>
      </p:sp>
      <p:sp>
        <p:nvSpPr>
          <p:cNvPr id="18" name="Text 16"/>
          <p:cNvSpPr txBox="1"/>
          <p:nvPr/>
        </p:nvSpPr>
        <p:spPr>
          <a:xfrm>
            <a:off x="3108960" y="5166360"/>
            <a:ext cx="8321040" cy="621792"/>
          </a:xfrm>
          <a:prstGeom prst="rect">
            <a:avLst/>
          </a:prstGeom>
          <a:noFill/>
        </p:spPr>
        <p:txBody>
          <a:bodyPr wrap="square" lIns="0" tIns="0" rIns="0" bIns="0" rtlCol="0" anchor="t"/>
          <a:lstStyle/>
          <a:p>
            <a:pPr marL="0" indent="0">
              <a:lnSpc>
                <a:spcPct val="125000"/>
              </a:lnSpc>
              <a:buNone/>
            </a:pPr>
            <a:r>
              <a:rPr lang="en-US" sz="1400" dirty="0">
                <a:solidFill>
                  <a:srgbClr val="93A39D"/>
                </a:solidFill>
                <a:latin typeface="Calibri" pitchFamily="34" charset="0"/>
                <a:ea typeface="Calibri" pitchFamily="34" charset="-122"/>
                <a:cs typeface="Calibri" pitchFamily="34" charset="-120"/>
              </a:rPr>
              <a:t>No quantified link between coordinated batteries and money actually saved.</a:t>
            </a:r>
            <a:endParaRPr lang="en-US" sz="1400" dirty="0"/>
          </a:p>
        </p:txBody>
      </p:sp>
      <p:sp>
        <p:nvSpPr>
          <p:cNvPr id="19" name="Text 17"/>
          <p:cNvSpPr txBox="1"/>
          <p:nvPr/>
        </p:nvSpPr>
        <p:spPr>
          <a:xfrm>
            <a:off x="548640" y="6473952"/>
            <a:ext cx="5486400" cy="274320"/>
          </a:xfrm>
          <a:prstGeom prst="rect">
            <a:avLst/>
          </a:prstGeom>
          <a:noFill/>
        </p:spPr>
        <p:txBody>
          <a:bodyPr wrap="square" lIns="0" tIns="0" rIns="0" bIns="0" rtlCol="0" anchor="ctr"/>
          <a:lstStyle/>
          <a:p>
            <a:pPr marL="0" indent="0">
              <a:buNone/>
            </a:pPr>
            <a:endParaRPr lang="en-US" sz="1000" dirty="0"/>
          </a:p>
        </p:txBody>
      </p:sp>
      <p:sp>
        <p:nvSpPr>
          <p:cNvPr id="20" name="Text 18"/>
          <p:cNvSpPr txBox="1"/>
          <p:nvPr/>
        </p:nvSpPr>
        <p:spPr>
          <a:xfrm>
            <a:off x="8899855" y="6473952"/>
            <a:ext cx="2743200" cy="274320"/>
          </a:xfrm>
          <a:prstGeom prst="rect">
            <a:avLst/>
          </a:prstGeom>
          <a:noFill/>
        </p:spPr>
        <p:txBody>
          <a:bodyPr wrap="square" lIns="0" tIns="0" rIns="0" bIns="0" rtlCol="0" anchor="ctr"/>
          <a:lstStyle/>
          <a:p>
            <a:pPr marL="0" indent="0" algn="r">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A17"/>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p:spPr>
        <p:txBody>
          <a:bodyPr wrap="square" lIns="0" tIns="0" rIns="0" bIns="0" rtlCol="0" anchor="ctr"/>
          <a:lstStyle/>
          <a:p>
            <a:pPr marL="0" indent="0">
              <a:buNone/>
            </a:pPr>
            <a:r>
              <a:rPr lang="en-US" sz="2400" b="1" dirty="0">
                <a:solidFill>
                  <a:schemeClr val="accent6"/>
                </a:solidFill>
                <a:latin typeface="Calibri" pitchFamily="34" charset="0"/>
                <a:ea typeface="Calibri" pitchFamily="34" charset="-122"/>
                <a:cs typeface="Calibri" pitchFamily="34" charset="-120"/>
              </a:rPr>
              <a:t>Target user</a:t>
            </a:r>
            <a:endParaRPr lang="en-US" sz="2400" b="1" dirty="0">
              <a:solidFill>
                <a:schemeClr val="accent6"/>
              </a:solidFill>
              <a:latin typeface="Calibri" pitchFamily="34" charset="0"/>
              <a:ea typeface="Calibri" pitchFamily="34" charset="-122"/>
              <a:cs typeface="Calibri" pitchFamily="34" charset="-120"/>
            </a:endParaRPr>
          </a:p>
        </p:txBody>
      </p:sp>
      <p:sp>
        <p:nvSpPr>
          <p:cNvPr id="3" name="Text 1"/>
          <p:cNvSpPr txBox="1"/>
          <p:nvPr/>
        </p:nvSpPr>
        <p:spPr>
          <a:xfrm>
            <a:off x="548640" y="713232"/>
            <a:ext cx="11064240" cy="822960"/>
          </a:xfrm>
          <a:prstGeom prst="rect">
            <a:avLst/>
          </a:prstGeom>
          <a:noFill/>
        </p:spPr>
        <p:txBody>
          <a:bodyPr wrap="square" lIns="0" tIns="0" rIns="0" bIns="0" rtlCol="0" anchor="ctr"/>
          <a:lstStyle/>
          <a:p>
            <a:pPr marL="0" indent="0">
              <a:buNone/>
            </a:pPr>
            <a:r>
              <a:rPr lang="en-US" b="1" dirty="0">
                <a:solidFill>
                  <a:srgbClr val="EEF2EF"/>
                </a:solidFill>
                <a:latin typeface="Cambria" pitchFamily="34" charset="0"/>
                <a:ea typeface="Cambria" pitchFamily="34" charset="-122"/>
                <a:cs typeface="Cambria" pitchFamily="34" charset="-120"/>
              </a:rPr>
              <a:t>One coordination layer, two customers either side</a:t>
            </a:r>
            <a:endParaRPr lang="en-US" dirty="0"/>
          </a:p>
        </p:txBody>
      </p:sp>
      <p:sp>
        <p:nvSpPr>
          <p:cNvPr id="4" name="Shape 2"/>
          <p:cNvSpPr/>
          <p:nvPr/>
        </p:nvSpPr>
        <p:spPr>
          <a:xfrm>
            <a:off x="548640" y="1874520"/>
            <a:ext cx="5166360" cy="2834640"/>
          </a:xfrm>
          <a:prstGeom prst="roundRect">
            <a:avLst>
              <a:gd name="adj" fmla="val 2581"/>
            </a:avLst>
          </a:prstGeom>
          <a:solidFill>
            <a:srgbClr val="132621"/>
          </a:solidFill>
          <a:ln w="12700">
            <a:solidFill>
              <a:srgbClr val="26342F"/>
            </a:solidFill>
            <a:prstDash val="solid"/>
          </a:ln>
        </p:spPr>
      </p:sp>
      <p:sp>
        <p:nvSpPr>
          <p:cNvPr id="5" name="Text 3"/>
          <p:cNvSpPr txBox="1"/>
          <p:nvPr/>
        </p:nvSpPr>
        <p:spPr>
          <a:xfrm>
            <a:off x="868680" y="2148840"/>
            <a:ext cx="4526280" cy="457200"/>
          </a:xfrm>
          <a:prstGeom prst="rect">
            <a:avLst/>
          </a:prstGeom>
          <a:noFill/>
        </p:spPr>
        <p:txBody>
          <a:bodyPr wrap="square" lIns="0" tIns="0" rIns="0" bIns="0" rtlCol="0" anchor="ctr"/>
          <a:lstStyle/>
          <a:p>
            <a:pPr marL="0" indent="0">
              <a:buNone/>
            </a:pPr>
            <a:r>
              <a:rPr lang="en-US" sz="1900" b="1" dirty="0">
                <a:solidFill>
                  <a:schemeClr val="accent6"/>
                </a:solidFill>
                <a:latin typeface="Cambria" pitchFamily="34" charset="0"/>
                <a:ea typeface="Cambria" pitchFamily="34" charset="-122"/>
                <a:cs typeface="Cambria" pitchFamily="34" charset="-120"/>
              </a:rPr>
              <a:t>The homeowner</a:t>
            </a:r>
            <a:endParaRPr lang="en-US" sz="1900" b="1" dirty="0">
              <a:solidFill>
                <a:schemeClr val="accent6"/>
              </a:solidFill>
              <a:latin typeface="Cambria" pitchFamily="34" charset="0"/>
              <a:ea typeface="Cambria" pitchFamily="34" charset="-122"/>
              <a:cs typeface="Cambria" pitchFamily="34" charset="-120"/>
            </a:endParaRPr>
          </a:p>
        </p:txBody>
      </p:sp>
      <p:sp>
        <p:nvSpPr>
          <p:cNvPr id="6" name="Text 4"/>
          <p:cNvSpPr txBox="1"/>
          <p:nvPr/>
        </p:nvSpPr>
        <p:spPr>
          <a:xfrm>
            <a:off x="868680" y="2697480"/>
            <a:ext cx="4526280" cy="1737360"/>
          </a:xfrm>
          <a:prstGeom prst="rect">
            <a:avLst/>
          </a:prstGeom>
          <a:noFill/>
        </p:spPr>
        <p:txBody>
          <a:bodyPr wrap="square" lIns="0" tIns="0" rIns="0" bIns="0" rtlCol="0" anchor="ctr"/>
          <a:lstStyle/>
          <a:p>
            <a:pPr marL="0" indent="0">
              <a:lnSpc>
                <a:spcPct val="130000"/>
              </a:lnSpc>
              <a:buNone/>
            </a:pPr>
            <a:r>
              <a:rPr lang="en-US" sz="1400" dirty="0">
                <a:solidFill>
                  <a:srgbClr val="93A39D"/>
                </a:solidFill>
                <a:latin typeface="Calibri" pitchFamily="34" charset="0"/>
                <a:ea typeface="Calibri" pitchFamily="34" charset="-122"/>
                <a:cs typeface="Calibri" pitchFamily="34" charset="-120"/>
              </a:rPr>
              <a:t>Already owns a hybrid inverter and battery for backup. Wants to earn from spare capacity without ever risking their own reserve and wants that guarantee to be mechanical, not promised.</a:t>
            </a:r>
            <a:endParaRPr lang="en-US" sz="1400" dirty="0"/>
          </a:p>
        </p:txBody>
      </p:sp>
      <p:sp>
        <p:nvSpPr>
          <p:cNvPr id="7" name="Shape 5"/>
          <p:cNvSpPr/>
          <p:nvPr/>
        </p:nvSpPr>
        <p:spPr>
          <a:xfrm>
            <a:off x="6263640" y="1874520"/>
            <a:ext cx="5166360" cy="2834640"/>
          </a:xfrm>
          <a:prstGeom prst="roundRect">
            <a:avLst>
              <a:gd name="adj" fmla="val 2581"/>
            </a:avLst>
          </a:prstGeom>
          <a:solidFill>
            <a:srgbClr val="132621"/>
          </a:solidFill>
          <a:ln w="12700">
            <a:solidFill>
              <a:srgbClr val="26342F"/>
            </a:solidFill>
            <a:prstDash val="solid"/>
          </a:ln>
        </p:spPr>
      </p:sp>
      <p:sp>
        <p:nvSpPr>
          <p:cNvPr id="8" name="Text 6"/>
          <p:cNvSpPr txBox="1"/>
          <p:nvPr/>
        </p:nvSpPr>
        <p:spPr>
          <a:xfrm>
            <a:off x="6583680" y="2148840"/>
            <a:ext cx="4526280" cy="457200"/>
          </a:xfrm>
          <a:prstGeom prst="rect">
            <a:avLst/>
          </a:prstGeom>
          <a:noFill/>
        </p:spPr>
        <p:txBody>
          <a:bodyPr wrap="square" lIns="0" tIns="0" rIns="0" bIns="0" rtlCol="0" anchor="ctr"/>
          <a:lstStyle/>
          <a:p>
            <a:pPr marL="0" indent="0">
              <a:buNone/>
            </a:pPr>
            <a:r>
              <a:rPr lang="en-US" sz="1900" b="1" dirty="0">
                <a:solidFill>
                  <a:schemeClr val="accent6"/>
                </a:solidFill>
                <a:latin typeface="Cambria" pitchFamily="34" charset="0"/>
                <a:ea typeface="Cambria" pitchFamily="34" charset="-122"/>
                <a:cs typeface="Cambria" pitchFamily="34" charset="-120"/>
              </a:rPr>
              <a:t>The DISCOM</a:t>
            </a:r>
            <a:endParaRPr lang="en-US" sz="1900" b="1" dirty="0">
              <a:solidFill>
                <a:schemeClr val="accent6"/>
              </a:solidFill>
              <a:latin typeface="Cambria" pitchFamily="34" charset="0"/>
              <a:ea typeface="Cambria" pitchFamily="34" charset="-122"/>
              <a:cs typeface="Cambria" pitchFamily="34" charset="-120"/>
            </a:endParaRPr>
          </a:p>
        </p:txBody>
      </p:sp>
      <p:sp>
        <p:nvSpPr>
          <p:cNvPr id="9" name="Text 7"/>
          <p:cNvSpPr txBox="1"/>
          <p:nvPr/>
        </p:nvSpPr>
        <p:spPr>
          <a:xfrm>
            <a:off x="6583680" y="2697480"/>
            <a:ext cx="4526280" cy="1737360"/>
          </a:xfrm>
          <a:prstGeom prst="rect">
            <a:avLst/>
          </a:prstGeom>
          <a:noFill/>
        </p:spPr>
        <p:txBody>
          <a:bodyPr wrap="square" lIns="0" tIns="0" rIns="0" bIns="0" rtlCol="0" anchor="ctr"/>
          <a:lstStyle/>
          <a:p>
            <a:pPr marL="0" indent="0">
              <a:lnSpc>
                <a:spcPct val="130000"/>
              </a:lnSpc>
              <a:buNone/>
            </a:pPr>
            <a:r>
              <a:rPr lang="en-US" sz="1400" dirty="0">
                <a:solidFill>
                  <a:srgbClr val="93A39D"/>
                </a:solidFill>
                <a:latin typeface="Calibri" pitchFamily="34" charset="0"/>
                <a:ea typeface="Calibri" pitchFamily="34" charset="-122"/>
                <a:cs typeface="Calibri" pitchFamily="34" charset="-120"/>
              </a:rPr>
              <a:t>Watching rooftop solar push feeders toward reverse power flow (GERC already ties solar capacity to transformer capacity). Wants feeder stress relief and deferred capex, without waiting on new regulation to start.</a:t>
            </a:r>
            <a:endParaRPr lang="en-US" sz="1400" dirty="0"/>
          </a:p>
        </p:txBody>
      </p:sp>
      <p:sp>
        <p:nvSpPr>
          <p:cNvPr id="10" name="Text 8"/>
          <p:cNvSpPr txBox="1"/>
          <p:nvPr/>
        </p:nvSpPr>
        <p:spPr>
          <a:xfrm>
            <a:off x="548640" y="5029200"/>
            <a:ext cx="10515600" cy="457200"/>
          </a:xfrm>
          <a:prstGeom prst="rect">
            <a:avLst/>
          </a:prstGeom>
          <a:noFill/>
        </p:spPr>
        <p:txBody>
          <a:bodyPr wrap="square" lIns="0" tIns="0" rIns="0" bIns="0" rtlCol="0" anchor="ctr"/>
          <a:lstStyle/>
          <a:p>
            <a:pPr marL="0" indent="0">
              <a:buNone/>
            </a:pPr>
            <a:r>
              <a:rPr lang="en-US" sz="1500" i="1" dirty="0">
                <a:solidFill>
                  <a:srgbClr val="EEF2EF"/>
                </a:solidFill>
                <a:latin typeface="Calibri" pitchFamily="34" charset="0"/>
                <a:ea typeface="Calibri" pitchFamily="34" charset="-122"/>
                <a:cs typeface="Calibri" pitchFamily="34" charset="-120"/>
              </a:rPr>
              <a:t>And, Between them there will be a platform that makes existing storage visible, dispatchable and fairly paid.</a:t>
            </a:r>
            <a:endParaRPr lang="en-US" sz="1500" dirty="0"/>
          </a:p>
        </p:txBody>
      </p:sp>
      <p:sp>
        <p:nvSpPr>
          <p:cNvPr id="11" name="Text 9"/>
          <p:cNvSpPr txBox="1"/>
          <p:nvPr/>
        </p:nvSpPr>
        <p:spPr>
          <a:xfrm>
            <a:off x="548640" y="6473952"/>
            <a:ext cx="5486400" cy="274320"/>
          </a:xfrm>
          <a:prstGeom prst="rect">
            <a:avLst/>
          </a:prstGeom>
          <a:noFill/>
        </p:spPr>
        <p:txBody>
          <a:bodyPr wrap="square" lIns="0" tIns="0" rIns="0" bIns="0" rtlCol="0" anchor="ctr"/>
          <a:lstStyle/>
          <a:p>
            <a:pPr marL="0" indent="0">
              <a:buNone/>
            </a:pPr>
            <a:endParaRPr lang="en-US" sz="1000" dirty="0"/>
          </a:p>
        </p:txBody>
      </p:sp>
      <p:sp>
        <p:nvSpPr>
          <p:cNvPr id="12" name="Text 10"/>
          <p:cNvSpPr txBox="1"/>
          <p:nvPr/>
        </p:nvSpPr>
        <p:spPr>
          <a:xfrm>
            <a:off x="8899855" y="6473952"/>
            <a:ext cx="2743200" cy="274320"/>
          </a:xfrm>
          <a:prstGeom prst="rect">
            <a:avLst/>
          </a:prstGeom>
          <a:noFill/>
        </p:spPr>
        <p:txBody>
          <a:bodyPr wrap="square" lIns="0" tIns="0" rIns="0" bIns="0" rtlCol="0" anchor="ctr"/>
          <a:lstStyle/>
          <a:p>
            <a:pPr marL="0" indent="0" algn="r">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A17"/>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p:spPr>
        <p:txBody>
          <a:bodyPr wrap="square" lIns="0" tIns="0" rIns="0" bIns="0" rtlCol="0" anchor="ctr"/>
          <a:lstStyle/>
          <a:p>
            <a:pPr marL="0" indent="0">
              <a:buNone/>
            </a:pPr>
            <a:r>
              <a:rPr lang="en-US" sz="2400" b="1" dirty="0">
                <a:solidFill>
                  <a:schemeClr val="accent6"/>
                </a:solidFill>
                <a:latin typeface="Calibri" pitchFamily="34" charset="0"/>
                <a:ea typeface="Calibri" pitchFamily="34" charset="-122"/>
                <a:cs typeface="Calibri" pitchFamily="34" charset="-120"/>
              </a:rPr>
              <a:t>Technical concept</a:t>
            </a:r>
            <a:endParaRPr lang="en-US" sz="2400" b="1" dirty="0">
              <a:solidFill>
                <a:schemeClr val="accent6"/>
              </a:solidFill>
              <a:latin typeface="Calibri" pitchFamily="34" charset="0"/>
              <a:ea typeface="Calibri" pitchFamily="34" charset="-122"/>
              <a:cs typeface="Calibri" pitchFamily="34" charset="-120"/>
            </a:endParaRPr>
          </a:p>
        </p:txBody>
      </p:sp>
      <p:sp>
        <p:nvSpPr>
          <p:cNvPr id="3" name="Text 1"/>
          <p:cNvSpPr txBox="1"/>
          <p:nvPr/>
        </p:nvSpPr>
        <p:spPr>
          <a:xfrm>
            <a:off x="548640" y="713232"/>
            <a:ext cx="11064240" cy="822960"/>
          </a:xfrm>
          <a:prstGeom prst="rect">
            <a:avLst/>
          </a:prstGeom>
          <a:noFill/>
        </p:spPr>
        <p:txBody>
          <a:bodyPr wrap="square" lIns="0" tIns="0" rIns="0" bIns="0" rtlCol="0" anchor="ctr"/>
          <a:lstStyle/>
          <a:p>
            <a:pPr marL="0" indent="0">
              <a:buNone/>
            </a:pPr>
            <a:r>
              <a:rPr lang="en-US" b="1" dirty="0">
                <a:solidFill>
                  <a:srgbClr val="EEF2EF"/>
                </a:solidFill>
                <a:latin typeface="Cambria" pitchFamily="34" charset="0"/>
                <a:ea typeface="Cambria" pitchFamily="34" charset="-122"/>
                <a:cs typeface="Cambria" pitchFamily="34" charset="-120"/>
              </a:rPr>
              <a:t>A closed loop: battery to payout, and back</a:t>
            </a:r>
            <a:endParaRPr lang="en-US" dirty="0"/>
          </a:p>
        </p:txBody>
      </p:sp>
      <p:sp>
        <p:nvSpPr>
          <p:cNvPr id="5" name="Text 3"/>
          <p:cNvSpPr txBox="1"/>
          <p:nvPr/>
        </p:nvSpPr>
        <p:spPr>
          <a:xfrm>
            <a:off x="790423" y="1845564"/>
            <a:ext cx="7223760" cy="292608"/>
          </a:xfrm>
          <a:prstGeom prst="rect">
            <a:avLst/>
          </a:prstGeom>
          <a:noFill/>
        </p:spPr>
        <p:txBody>
          <a:bodyPr wrap="square" lIns="0" tIns="0" rIns="0" bIns="0" rtlCol="0" anchor="ctr"/>
          <a:lstStyle/>
          <a:p>
            <a:pPr marL="0" indent="0">
              <a:buNone/>
            </a:pPr>
            <a:r>
              <a:rPr lang="en-US" sz="1400" b="1" dirty="0">
                <a:solidFill>
                  <a:srgbClr val="EEF2EF"/>
                </a:solidFill>
                <a:latin typeface="Calibri" pitchFamily="34" charset="0"/>
                <a:ea typeface="Calibri" pitchFamily="34" charset="-122"/>
                <a:cs typeface="Calibri" pitchFamily="34" charset="-120"/>
              </a:rPr>
              <a:t>- Home batteries &amp; inverters</a:t>
            </a:r>
            <a:endParaRPr lang="en-US" sz="1400" dirty="0"/>
          </a:p>
        </p:txBody>
      </p:sp>
      <p:sp>
        <p:nvSpPr>
          <p:cNvPr id="6" name="Text 4"/>
          <p:cNvSpPr txBox="1"/>
          <p:nvPr/>
        </p:nvSpPr>
        <p:spPr>
          <a:xfrm>
            <a:off x="790423" y="2101596"/>
            <a:ext cx="7223760" cy="219456"/>
          </a:xfrm>
          <a:prstGeom prst="rect">
            <a:avLst/>
          </a:prstGeom>
          <a:noFill/>
        </p:spPr>
        <p:txBody>
          <a:bodyPr wrap="square" lIns="0" tIns="0" rIns="0" bIns="0" rtlCol="0" anchor="ctr"/>
          <a:lstStyle/>
          <a:p>
            <a:pPr marL="0" indent="0">
              <a:buNone/>
            </a:pPr>
            <a:r>
              <a:rPr lang="en-US" sz="1000"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State of charge, reserve, generation</a:t>
            </a:r>
            <a:endParaRPr lang="en-US" sz="1000" dirty="0"/>
          </a:p>
        </p:txBody>
      </p:sp>
      <p:sp>
        <p:nvSpPr>
          <p:cNvPr id="8" name="Text 6"/>
          <p:cNvSpPr txBox="1"/>
          <p:nvPr/>
        </p:nvSpPr>
        <p:spPr>
          <a:xfrm>
            <a:off x="790423" y="2668524"/>
            <a:ext cx="7223760" cy="292608"/>
          </a:xfrm>
          <a:prstGeom prst="rect">
            <a:avLst/>
          </a:prstGeom>
          <a:noFill/>
        </p:spPr>
        <p:txBody>
          <a:bodyPr wrap="square" lIns="0" tIns="0" rIns="0" bIns="0" rtlCol="0" anchor="ctr"/>
          <a:lstStyle/>
          <a:p>
            <a:pPr marL="0" indent="0">
              <a:buNone/>
            </a:pPr>
            <a:r>
              <a:rPr lang="en-US" sz="1400" b="1" dirty="0">
                <a:solidFill>
                  <a:srgbClr val="EEF2EF"/>
                </a:solidFill>
                <a:latin typeface="Calibri" pitchFamily="34" charset="0"/>
                <a:ea typeface="Calibri" pitchFamily="34" charset="-122"/>
                <a:cs typeface="Calibri" pitchFamily="34" charset="-120"/>
              </a:rPr>
              <a:t>- Comms gateway</a:t>
            </a:r>
            <a:endParaRPr lang="en-US" sz="1400" dirty="0"/>
          </a:p>
        </p:txBody>
      </p:sp>
      <p:sp>
        <p:nvSpPr>
          <p:cNvPr id="9" name="Text 7"/>
          <p:cNvSpPr txBox="1"/>
          <p:nvPr/>
        </p:nvSpPr>
        <p:spPr>
          <a:xfrm>
            <a:off x="790423" y="2924556"/>
            <a:ext cx="7223760" cy="219456"/>
          </a:xfrm>
          <a:prstGeom prst="rect">
            <a:avLst/>
          </a:prstGeom>
          <a:noFill/>
        </p:spPr>
        <p:txBody>
          <a:bodyPr wrap="square" lIns="0" tIns="0" rIns="0" bIns="0" rtlCol="0" anchor="ctr"/>
          <a:lstStyle/>
          <a:p>
            <a:pPr marL="0" indent="0">
              <a:buNone/>
            </a:pPr>
            <a:r>
              <a:rPr lang="en-US" sz="1000"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IEEE 2030.5 / SunSpec → one common feed</a:t>
            </a:r>
            <a:endParaRPr lang="en-US" sz="1000" dirty="0"/>
          </a:p>
        </p:txBody>
      </p:sp>
      <p:sp>
        <p:nvSpPr>
          <p:cNvPr id="11" name="Text 9"/>
          <p:cNvSpPr txBox="1"/>
          <p:nvPr/>
        </p:nvSpPr>
        <p:spPr>
          <a:xfrm>
            <a:off x="790423" y="3491484"/>
            <a:ext cx="7223760" cy="292608"/>
          </a:xfrm>
          <a:prstGeom prst="rect">
            <a:avLst/>
          </a:prstGeom>
          <a:noFill/>
        </p:spPr>
        <p:txBody>
          <a:bodyPr wrap="square" lIns="0" tIns="0" rIns="0" bIns="0" rtlCol="0" anchor="ctr"/>
          <a:lstStyle/>
          <a:p>
            <a:pPr marL="0" indent="0">
              <a:buNone/>
            </a:pPr>
            <a:r>
              <a:rPr lang="en-US" sz="1400" b="1" dirty="0">
                <a:solidFill>
                  <a:srgbClr val="EEF2EF"/>
                </a:solidFill>
                <a:latin typeface="Calibri" pitchFamily="34" charset="0"/>
                <a:ea typeface="Calibri" pitchFamily="34" charset="-122"/>
                <a:cs typeface="Calibri" pitchFamily="34" charset="-120"/>
              </a:rPr>
              <a:t>- Orchestration engine</a:t>
            </a:r>
            <a:endParaRPr lang="en-US" sz="1400" dirty="0"/>
          </a:p>
        </p:txBody>
      </p:sp>
      <p:sp>
        <p:nvSpPr>
          <p:cNvPr id="12" name="Text 10"/>
          <p:cNvSpPr txBox="1"/>
          <p:nvPr/>
        </p:nvSpPr>
        <p:spPr>
          <a:xfrm>
            <a:off x="790423" y="3747516"/>
            <a:ext cx="7223760" cy="219456"/>
          </a:xfrm>
          <a:prstGeom prst="rect">
            <a:avLst/>
          </a:prstGeom>
          <a:noFill/>
        </p:spPr>
        <p:txBody>
          <a:bodyPr wrap="square" lIns="0" tIns="0" rIns="0" bIns="0" rtlCol="0" anchor="ctr"/>
          <a:lstStyle/>
          <a:p>
            <a:pPr marL="0" indent="0">
              <a:buNone/>
            </a:pPr>
            <a:r>
              <a:rPr lang="en-US" sz="1000"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Forecast-driven, reserve-aware dispatch</a:t>
            </a:r>
            <a:endParaRPr lang="en-US" sz="1000" dirty="0"/>
          </a:p>
        </p:txBody>
      </p:sp>
      <p:sp>
        <p:nvSpPr>
          <p:cNvPr id="14" name="Text 12"/>
          <p:cNvSpPr txBox="1"/>
          <p:nvPr/>
        </p:nvSpPr>
        <p:spPr>
          <a:xfrm>
            <a:off x="762991" y="4314444"/>
            <a:ext cx="3154680" cy="274320"/>
          </a:xfrm>
          <a:prstGeom prst="rect">
            <a:avLst/>
          </a:prstGeom>
          <a:noFill/>
        </p:spPr>
        <p:txBody>
          <a:bodyPr wrap="square" lIns="0" tIns="0" rIns="0" bIns="0" rtlCol="0" anchor="ctr"/>
          <a:lstStyle/>
          <a:p>
            <a:pPr marL="0" indent="0">
              <a:buNone/>
            </a:pPr>
            <a:r>
              <a:rPr lang="en-US" sz="1300" b="1" dirty="0">
                <a:solidFill>
                  <a:srgbClr val="EEF2EF"/>
                </a:solidFill>
                <a:latin typeface="Calibri" pitchFamily="34" charset="0"/>
                <a:ea typeface="Calibri" pitchFamily="34" charset="-122"/>
                <a:cs typeface="Calibri" pitchFamily="34" charset="-120"/>
              </a:rPr>
              <a:t>- Dispatch to homes</a:t>
            </a:r>
            <a:endParaRPr lang="en-US" sz="1300" dirty="0"/>
          </a:p>
        </p:txBody>
      </p:sp>
      <p:sp>
        <p:nvSpPr>
          <p:cNvPr id="15" name="Text 13"/>
          <p:cNvSpPr txBox="1"/>
          <p:nvPr/>
        </p:nvSpPr>
        <p:spPr>
          <a:xfrm>
            <a:off x="762991" y="4561332"/>
            <a:ext cx="3154680" cy="219456"/>
          </a:xfrm>
          <a:prstGeom prst="rect">
            <a:avLst/>
          </a:prstGeom>
          <a:noFill/>
        </p:spPr>
        <p:txBody>
          <a:bodyPr wrap="square" lIns="0" tIns="0" rIns="0" bIns="0" rtlCol="0" anchor="ctr"/>
          <a:lstStyle/>
          <a:p>
            <a:pPr marL="0" indent="0">
              <a:buNone/>
            </a:pPr>
            <a:r>
              <a:rPr lang="en-US" sz="950"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Never below a home’s own floor</a:t>
            </a:r>
            <a:endParaRPr lang="en-US" sz="950" dirty="0"/>
          </a:p>
        </p:txBody>
      </p:sp>
      <p:sp>
        <p:nvSpPr>
          <p:cNvPr id="17" name="Text 15"/>
          <p:cNvSpPr txBox="1"/>
          <p:nvPr/>
        </p:nvSpPr>
        <p:spPr>
          <a:xfrm>
            <a:off x="762991" y="5252339"/>
            <a:ext cx="3154680" cy="274320"/>
          </a:xfrm>
          <a:prstGeom prst="rect">
            <a:avLst/>
          </a:prstGeom>
          <a:noFill/>
        </p:spPr>
        <p:txBody>
          <a:bodyPr wrap="square" lIns="0" tIns="0" rIns="0" bIns="0" rtlCol="0" anchor="ctr"/>
          <a:lstStyle/>
          <a:p>
            <a:pPr marL="0" indent="0">
              <a:buNone/>
            </a:pPr>
            <a:r>
              <a:rPr lang="en-US" sz="1300" b="1" dirty="0">
                <a:solidFill>
                  <a:srgbClr val="EEF2EF"/>
                </a:solidFill>
                <a:latin typeface="Calibri" pitchFamily="34" charset="0"/>
                <a:ea typeface="Calibri" pitchFamily="34" charset="-122"/>
                <a:cs typeface="Calibri" pitchFamily="34" charset="-120"/>
              </a:rPr>
              <a:t>- DISCOM value tracking</a:t>
            </a:r>
            <a:endParaRPr lang="en-US" sz="1300" dirty="0"/>
          </a:p>
        </p:txBody>
      </p:sp>
      <p:sp>
        <p:nvSpPr>
          <p:cNvPr id="18" name="Text 16"/>
          <p:cNvSpPr txBox="1"/>
          <p:nvPr/>
        </p:nvSpPr>
        <p:spPr>
          <a:xfrm>
            <a:off x="4740631" y="4561332"/>
            <a:ext cx="3154680" cy="219456"/>
          </a:xfrm>
          <a:prstGeom prst="rect">
            <a:avLst/>
          </a:prstGeom>
          <a:noFill/>
        </p:spPr>
        <p:txBody>
          <a:bodyPr wrap="square" lIns="0" tIns="0" rIns="0" bIns="0" rtlCol="0" anchor="ctr"/>
          <a:lstStyle/>
          <a:p>
            <a:pPr marL="0" indent="0">
              <a:buNone/>
            </a:pPr>
            <a:endParaRPr lang="en-US" sz="950" dirty="0"/>
          </a:p>
        </p:txBody>
      </p:sp>
      <p:sp>
        <p:nvSpPr>
          <p:cNvPr id="20" name="Text 18"/>
          <p:cNvSpPr txBox="1"/>
          <p:nvPr/>
        </p:nvSpPr>
        <p:spPr>
          <a:xfrm>
            <a:off x="548640" y="6473952"/>
            <a:ext cx="5486400" cy="274320"/>
          </a:xfrm>
          <a:prstGeom prst="rect">
            <a:avLst/>
          </a:prstGeom>
          <a:noFill/>
        </p:spPr>
        <p:txBody>
          <a:bodyPr wrap="square" lIns="0" tIns="0" rIns="0" bIns="0" rtlCol="0" anchor="ctr"/>
          <a:lstStyle/>
          <a:p>
            <a:pPr marL="0" indent="0">
              <a:buNone/>
            </a:pPr>
            <a:endParaRPr lang="en-US" sz="1000" dirty="0"/>
          </a:p>
        </p:txBody>
      </p:sp>
      <p:sp>
        <p:nvSpPr>
          <p:cNvPr id="21" name="Text 19"/>
          <p:cNvSpPr txBox="1"/>
          <p:nvPr/>
        </p:nvSpPr>
        <p:spPr>
          <a:xfrm>
            <a:off x="8899855" y="6473952"/>
            <a:ext cx="2743200" cy="274320"/>
          </a:xfrm>
          <a:prstGeom prst="rect">
            <a:avLst/>
          </a:prstGeom>
          <a:noFill/>
        </p:spPr>
        <p:txBody>
          <a:bodyPr wrap="square" lIns="0" tIns="0" rIns="0" bIns="0" rtlCol="0" anchor="ctr"/>
          <a:lstStyle/>
          <a:p>
            <a:pPr marL="0" indent="0" algn="r">
              <a:buNone/>
            </a:pPr>
            <a:endParaRPr lang="en-US" sz="1000" dirty="0"/>
          </a:p>
        </p:txBody>
      </p:sp>
      <p:pic>
        <p:nvPicPr>
          <p:cNvPr id="22" name="Picture 21" descr="Screenshot 2026-09-27 at 6.20.59 AM"/>
          <p:cNvPicPr>
            <a:picLocks noChangeAspect="1"/>
          </p:cNvPicPr>
          <p:nvPr/>
        </p:nvPicPr>
        <p:blipFill>
          <a:blip r:embed="rId1"/>
          <a:stretch>
            <a:fillRect/>
          </a:stretch>
        </p:blipFill>
        <p:spPr>
          <a:xfrm>
            <a:off x="7459345" y="713105"/>
            <a:ext cx="4246245" cy="49637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A17"/>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p:spPr>
        <p:txBody>
          <a:bodyPr wrap="square" lIns="0" tIns="0" rIns="0" bIns="0" rtlCol="0" anchor="ctr"/>
          <a:lstStyle/>
          <a:p>
            <a:pPr marL="0" indent="0">
              <a:buNone/>
            </a:pPr>
            <a:r>
              <a:rPr lang="en-US" sz="2400" b="1" dirty="0">
                <a:solidFill>
                  <a:schemeClr val="accent6"/>
                </a:solidFill>
                <a:latin typeface="Calibri" pitchFamily="34" charset="0"/>
                <a:ea typeface="Calibri" pitchFamily="34" charset="-122"/>
                <a:cs typeface="Calibri" pitchFamily="34" charset="-120"/>
              </a:rPr>
              <a:t>Assumptions</a:t>
            </a:r>
            <a:endParaRPr lang="en-US" sz="2400" b="1" dirty="0">
              <a:solidFill>
                <a:schemeClr val="accent6"/>
              </a:solidFill>
              <a:latin typeface="Calibri" pitchFamily="34" charset="0"/>
              <a:ea typeface="Calibri" pitchFamily="34" charset="-122"/>
              <a:cs typeface="Calibri" pitchFamily="34" charset="-120"/>
            </a:endParaRPr>
          </a:p>
        </p:txBody>
      </p:sp>
      <p:sp>
        <p:nvSpPr>
          <p:cNvPr id="3" name="Text 1"/>
          <p:cNvSpPr txBox="1"/>
          <p:nvPr/>
        </p:nvSpPr>
        <p:spPr>
          <a:xfrm>
            <a:off x="548640" y="713232"/>
            <a:ext cx="11064240" cy="822960"/>
          </a:xfrm>
          <a:prstGeom prst="rect">
            <a:avLst/>
          </a:prstGeom>
          <a:noFill/>
        </p:spPr>
        <p:txBody>
          <a:bodyPr wrap="square" lIns="0" tIns="0" rIns="0" bIns="0" rtlCol="0" anchor="ctr"/>
          <a:lstStyle/>
          <a:p>
            <a:pPr marL="0" indent="0">
              <a:buNone/>
            </a:pPr>
            <a:r>
              <a:rPr lang="en-US" b="1" dirty="0">
                <a:solidFill>
                  <a:srgbClr val="EEF2EF"/>
                </a:solidFill>
                <a:latin typeface="Cambria" pitchFamily="34" charset="0"/>
                <a:ea typeface="Cambria" pitchFamily="34" charset="-122"/>
                <a:cs typeface="Cambria" pitchFamily="34" charset="-120"/>
              </a:rPr>
              <a:t>Three formulas carry the whole mechanism</a:t>
            </a:r>
            <a:endParaRPr lang="en-US" dirty="0"/>
          </a:p>
        </p:txBody>
      </p:sp>
      <p:sp>
        <p:nvSpPr>
          <p:cNvPr id="4" name="Shape 2"/>
          <p:cNvSpPr/>
          <p:nvPr/>
        </p:nvSpPr>
        <p:spPr>
          <a:xfrm>
            <a:off x="548640" y="1691640"/>
            <a:ext cx="6492240" cy="502920"/>
          </a:xfrm>
          <a:prstGeom prst="roundRect">
            <a:avLst>
              <a:gd name="adj" fmla="val 9091"/>
            </a:avLst>
          </a:prstGeom>
          <a:solidFill>
            <a:srgbClr val="132621"/>
          </a:solidFill>
          <a:ln w="12700">
            <a:solidFill>
              <a:srgbClr val="26342F"/>
            </a:solidFill>
            <a:prstDash val="solid"/>
          </a:ln>
        </p:spPr>
      </p:sp>
      <p:sp>
        <p:nvSpPr>
          <p:cNvPr id="5" name="Text 3"/>
          <p:cNvSpPr txBox="1"/>
          <p:nvPr/>
        </p:nvSpPr>
        <p:spPr>
          <a:xfrm>
            <a:off x="548640" y="1581785"/>
            <a:ext cx="6126480" cy="502920"/>
          </a:xfrm>
          <a:prstGeom prst="rect">
            <a:avLst/>
          </a:prstGeom>
          <a:noFill/>
        </p:spPr>
        <p:txBody>
          <a:bodyPr wrap="square" lIns="0" tIns="0" rIns="0" bIns="0" rtlCol="0" anchor="ctr"/>
          <a:lstStyle/>
          <a:p>
            <a:pPr marL="0" indent="0">
              <a:buNone/>
            </a:pPr>
            <a:r>
              <a:rPr lang="en-US" sz="1250" dirty="0">
                <a:solidFill>
                  <a:srgbClr val="EEF2EF"/>
                </a:solidFill>
                <a:latin typeface="Courier New" panose="02070409020205090404" pitchFamily="34" charset="0"/>
                <a:ea typeface="Courier New" panose="02070409020205090404" pitchFamily="34" charset="-122"/>
                <a:cs typeface="Courier New" panose="02070409020205090404" pitchFamily="34" charset="-120"/>
              </a:rPr>
              <a:t>ReserveFloor(i,t) = max( HardMin(i), BaseFloor(i) − k(i) × SolarConfidence(t+1) )</a:t>
            </a:r>
            <a:endParaRPr lang="en-US" sz="1250" dirty="0"/>
          </a:p>
        </p:txBody>
      </p:sp>
      <p:sp>
        <p:nvSpPr>
          <p:cNvPr id="6" name="Text 4"/>
          <p:cNvSpPr txBox="1"/>
          <p:nvPr/>
        </p:nvSpPr>
        <p:spPr>
          <a:xfrm>
            <a:off x="548640" y="2183130"/>
            <a:ext cx="6492240" cy="502920"/>
          </a:xfrm>
          <a:prstGeom prst="rect">
            <a:avLst/>
          </a:prstGeom>
          <a:noFill/>
        </p:spPr>
        <p:txBody>
          <a:bodyPr wrap="square" lIns="0" tIns="0" rIns="0" bIns="0" rtlCol="0" anchor="ctr"/>
          <a:lstStyle/>
          <a:p>
            <a:pPr marL="0" indent="0">
              <a:lnSpc>
                <a:spcPct val="120000"/>
              </a:lnSpc>
              <a:buNone/>
            </a:pPr>
            <a:r>
              <a:rPr lang="en-US" sz="1150" dirty="0">
                <a:solidFill>
                  <a:srgbClr val="93A39D"/>
                </a:solidFill>
                <a:latin typeface="Calibri" pitchFamily="34" charset="0"/>
                <a:ea typeface="Calibri" pitchFamily="34" charset="-122"/>
                <a:cs typeface="Calibri" pitchFamily="34" charset="-120"/>
              </a:rPr>
              <a:t>HardMin is never overridden — the trust guarantee, made mechanical. Confidence from a public forecast source (IMD / Open-Meteo).</a:t>
            </a:r>
            <a:endParaRPr lang="en-US" sz="1150" dirty="0"/>
          </a:p>
        </p:txBody>
      </p:sp>
      <p:sp>
        <p:nvSpPr>
          <p:cNvPr id="7" name="Shape 5"/>
          <p:cNvSpPr/>
          <p:nvPr/>
        </p:nvSpPr>
        <p:spPr>
          <a:xfrm>
            <a:off x="548640" y="2898648"/>
            <a:ext cx="6492240" cy="502920"/>
          </a:xfrm>
          <a:prstGeom prst="roundRect">
            <a:avLst>
              <a:gd name="adj" fmla="val 9091"/>
            </a:avLst>
          </a:prstGeom>
          <a:solidFill>
            <a:srgbClr val="132621"/>
          </a:solidFill>
          <a:ln w="12700">
            <a:solidFill>
              <a:srgbClr val="26342F"/>
            </a:solidFill>
            <a:prstDash val="solid"/>
          </a:ln>
        </p:spPr>
      </p:sp>
      <p:sp>
        <p:nvSpPr>
          <p:cNvPr id="8" name="Text 6"/>
          <p:cNvSpPr txBox="1"/>
          <p:nvPr/>
        </p:nvSpPr>
        <p:spPr>
          <a:xfrm>
            <a:off x="548640" y="2788793"/>
            <a:ext cx="6126480" cy="502920"/>
          </a:xfrm>
          <a:prstGeom prst="rect">
            <a:avLst/>
          </a:prstGeom>
          <a:noFill/>
        </p:spPr>
        <p:txBody>
          <a:bodyPr wrap="square" lIns="0" tIns="0" rIns="0" bIns="0" rtlCol="0" anchor="ctr"/>
          <a:lstStyle/>
          <a:p>
            <a:pPr marL="0" indent="0">
              <a:buNone/>
            </a:pPr>
            <a:r>
              <a:rPr lang="en-US" sz="1250" dirty="0">
                <a:solidFill>
                  <a:srgbClr val="EEF2EF"/>
                </a:solidFill>
                <a:latin typeface="Courier New" panose="02070409020205090404" pitchFamily="34" charset="0"/>
                <a:ea typeface="Courier New" panose="02070409020205090404" pitchFamily="34" charset="-122"/>
                <a:cs typeface="Courier New" panose="02070409020205090404" pitchFamily="34" charset="-120"/>
              </a:rPr>
              <a:t>Dispatchable(i,t) = max( 0, SoC(i,t) − ReserveFloor(i,t) )</a:t>
            </a:r>
            <a:endParaRPr lang="en-US" sz="1250" dirty="0"/>
          </a:p>
        </p:txBody>
      </p:sp>
      <p:sp>
        <p:nvSpPr>
          <p:cNvPr id="9" name="Text 7"/>
          <p:cNvSpPr txBox="1"/>
          <p:nvPr/>
        </p:nvSpPr>
        <p:spPr>
          <a:xfrm>
            <a:off x="548640" y="3285363"/>
            <a:ext cx="6492240" cy="502920"/>
          </a:xfrm>
          <a:prstGeom prst="rect">
            <a:avLst/>
          </a:prstGeom>
          <a:noFill/>
        </p:spPr>
        <p:txBody>
          <a:bodyPr wrap="square" lIns="0" tIns="0" rIns="0" bIns="0" rtlCol="0" anchor="ctr"/>
          <a:lstStyle/>
          <a:p>
            <a:pPr marL="0" indent="0">
              <a:lnSpc>
                <a:spcPct val="120000"/>
              </a:lnSpc>
              <a:buNone/>
            </a:pPr>
            <a:r>
              <a:rPr lang="en-US" sz="1150" dirty="0">
                <a:solidFill>
                  <a:srgbClr val="93A39D"/>
                </a:solidFill>
                <a:latin typeface="Calibri" pitchFamily="34" charset="0"/>
                <a:ea typeface="Calibri" pitchFamily="34" charset="-122"/>
                <a:cs typeface="Calibri" pitchFamily="34" charset="-120"/>
              </a:rPr>
              <a:t>Recomputed every cycle from live state of charge — never assumed static.</a:t>
            </a:r>
            <a:endParaRPr lang="en-US" sz="1150" dirty="0"/>
          </a:p>
        </p:txBody>
      </p:sp>
      <p:sp>
        <p:nvSpPr>
          <p:cNvPr id="10" name="Shape 8"/>
          <p:cNvSpPr/>
          <p:nvPr/>
        </p:nvSpPr>
        <p:spPr>
          <a:xfrm>
            <a:off x="548640" y="3885946"/>
            <a:ext cx="6492240" cy="502920"/>
          </a:xfrm>
          <a:prstGeom prst="roundRect">
            <a:avLst>
              <a:gd name="adj" fmla="val 9091"/>
            </a:avLst>
          </a:prstGeom>
          <a:solidFill>
            <a:srgbClr val="132621"/>
          </a:solidFill>
          <a:ln w="12700">
            <a:solidFill>
              <a:srgbClr val="26342F"/>
            </a:solidFill>
            <a:prstDash val="solid"/>
          </a:ln>
        </p:spPr>
      </p:sp>
      <p:sp>
        <p:nvSpPr>
          <p:cNvPr id="11" name="Text 9"/>
          <p:cNvSpPr txBox="1"/>
          <p:nvPr/>
        </p:nvSpPr>
        <p:spPr>
          <a:xfrm>
            <a:off x="548640" y="3939286"/>
            <a:ext cx="6126480" cy="502920"/>
          </a:xfrm>
          <a:prstGeom prst="rect">
            <a:avLst/>
          </a:prstGeom>
          <a:noFill/>
        </p:spPr>
        <p:txBody>
          <a:bodyPr wrap="square" lIns="0" tIns="0" rIns="0" bIns="0" rtlCol="0" anchor="ctr"/>
          <a:lstStyle/>
          <a:p>
            <a:pPr marL="0" indent="0">
              <a:buNone/>
            </a:pPr>
            <a:r>
              <a:rPr lang="en-US" sz="1250" dirty="0">
                <a:solidFill>
                  <a:srgbClr val="EEF2EF"/>
                </a:solidFill>
                <a:latin typeface="Courier New" panose="02070409020205090404" pitchFamily="34" charset="0"/>
                <a:ea typeface="Courier New" panose="02070409020205090404" pitchFamily="34" charset="-122"/>
                <a:cs typeface="Courier New" panose="02070409020205090404" pitchFamily="34" charset="-120"/>
              </a:rPr>
              <a:t>Payout(i) = Σₜ [ kWh dispatched × ₹4.15/kWh × StressMultiplier(t) ]</a:t>
            </a:r>
            <a:endParaRPr lang="en-US" sz="1250" dirty="0"/>
          </a:p>
        </p:txBody>
      </p:sp>
      <p:sp>
        <p:nvSpPr>
          <p:cNvPr id="12" name="Text 10"/>
          <p:cNvSpPr txBox="1"/>
          <p:nvPr/>
        </p:nvSpPr>
        <p:spPr>
          <a:xfrm>
            <a:off x="548640" y="4654296"/>
            <a:ext cx="6492240" cy="502920"/>
          </a:xfrm>
          <a:prstGeom prst="rect">
            <a:avLst/>
          </a:prstGeom>
          <a:noFill/>
        </p:spPr>
        <p:txBody>
          <a:bodyPr wrap="square" lIns="0" tIns="0" rIns="0" bIns="0" rtlCol="0" anchor="ctr"/>
          <a:lstStyle/>
          <a:p>
            <a:pPr marL="0" indent="0">
              <a:lnSpc>
                <a:spcPct val="120000"/>
              </a:lnSpc>
              <a:buNone/>
            </a:pPr>
            <a:endParaRPr lang="en-US" sz="1150" dirty="0"/>
          </a:p>
        </p:txBody>
      </p:sp>
      <p:sp>
        <p:nvSpPr>
          <p:cNvPr id="13" name="Text 11"/>
          <p:cNvSpPr txBox="1"/>
          <p:nvPr/>
        </p:nvSpPr>
        <p:spPr>
          <a:xfrm>
            <a:off x="548640" y="4544695"/>
            <a:ext cx="4144975" cy="320040"/>
          </a:xfrm>
          <a:prstGeom prst="rect">
            <a:avLst/>
          </a:prstGeom>
          <a:noFill/>
        </p:spPr>
        <p:txBody>
          <a:bodyPr wrap="square" lIns="0" tIns="0" rIns="0" bIns="0" rtlCol="0" anchor="ctr"/>
          <a:lstStyle/>
          <a:p>
            <a:pPr marL="0" indent="0">
              <a:buNone/>
            </a:pPr>
            <a:r>
              <a:rPr lang="en-US" sz="1300" b="1" dirty="0">
                <a:solidFill>
                  <a:srgbClr val="EEF2EF"/>
                </a:solidFill>
                <a:latin typeface="Calibri" pitchFamily="34" charset="0"/>
                <a:ea typeface="Calibri" pitchFamily="34" charset="-122"/>
                <a:cs typeface="Calibri" pitchFamily="34" charset="-120"/>
              </a:rPr>
              <a:t>Participation tiers</a:t>
            </a:r>
            <a:endParaRPr lang="en-US" sz="1300" dirty="0"/>
          </a:p>
        </p:txBody>
      </p:sp>
      <p:graphicFrame>
        <p:nvGraphicFramePr>
          <p:cNvPr id="14" name="Table 0"/>
          <p:cNvGraphicFramePr>
            <a:graphicFrameLocks noGrp="1"/>
          </p:cNvGraphicFramePr>
          <p:nvPr/>
        </p:nvGraphicFramePr>
        <p:xfrm>
          <a:off x="548640" y="5020310"/>
          <a:ext cx="4144976" cy="1536192"/>
        </p:xfrm>
        <a:graphic>
          <a:graphicData uri="http://schemas.openxmlformats.org/drawingml/2006/table">
            <a:tbl>
              <a:tblPr/>
              <a:tblGrid>
                <a:gridCol w="2569885"/>
                <a:gridCol w="1575091"/>
              </a:tblGrid>
              <a:tr h="384048">
                <a:tc>
                  <a:txBody>
                    <a:bodyPr/>
                    <a:lstStyle/>
                    <a:p>
                      <a:pPr marL="0" indent="0">
                        <a:buNone/>
                      </a:pPr>
                      <a:r>
                        <a:rPr lang="en-US" sz="1250" b="1" dirty="0">
                          <a:solidFill>
                            <a:srgbClr val="93A39D"/>
                          </a:solidFill>
                          <a:latin typeface="Calibri" pitchFamily="34" charset="0"/>
                          <a:ea typeface="Calibri" pitchFamily="34" charset="-122"/>
                          <a:cs typeface="Calibri" pitchFamily="34" charset="-120"/>
                        </a:rPr>
                        <a:t>Participation tier</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b="1" dirty="0">
                          <a:solidFill>
                            <a:srgbClr val="93A39D"/>
                          </a:solidFill>
                          <a:latin typeface="Calibri" pitchFamily="34" charset="0"/>
                          <a:ea typeface="Calibri" pitchFamily="34" charset="-122"/>
                          <a:cs typeface="Calibri" pitchFamily="34" charset="-120"/>
                        </a:rPr>
                        <a:t>k (reserve flexibility)</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r>
              <a:tr h="384048">
                <a:tc>
                  <a:txBody>
                    <a:bodyPr/>
                    <a:lstStyle/>
                    <a:p>
                      <a:pPr marL="0" indent="0">
                        <a:buNone/>
                      </a:pPr>
                      <a:r>
                        <a:rPr lang="en-US" sz="1250" dirty="0">
                          <a:solidFill>
                            <a:srgbClr val="EEF2EF"/>
                          </a:solidFill>
                          <a:latin typeface="Calibri" pitchFamily="34" charset="0"/>
                          <a:ea typeface="Calibri" pitchFamily="34" charset="-122"/>
                          <a:cs typeface="Calibri" pitchFamily="34" charset="-120"/>
                        </a:rPr>
                        <a:t>Conservative</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dirty="0">
                          <a:solidFill>
                            <a:srgbClr val="EEF2EF"/>
                          </a:solidFill>
                          <a:latin typeface="Courier New" panose="02070409020205090404" pitchFamily="34" charset="0"/>
                          <a:ea typeface="Courier New" panose="02070409020205090404" pitchFamily="34" charset="-122"/>
                          <a:cs typeface="Courier New" panose="02070409020205090404" pitchFamily="34" charset="-120"/>
                        </a:rPr>
                        <a:t>0.15</a:t>
                      </a:r>
                      <a:endParaRPr lang="en-US" sz="1250" dirty="0">
                        <a:latin typeface="Courier New" panose="02070409020205090404" pitchFamily="34" charset="0"/>
                        <a:ea typeface="Courier New" panose="02070409020205090404" pitchFamily="34" charset="0"/>
                        <a:cs typeface="Courier New" panose="02070409020205090404"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r>
              <a:tr h="384048">
                <a:tc>
                  <a:txBody>
                    <a:bodyPr/>
                    <a:lstStyle/>
                    <a:p>
                      <a:pPr marL="0" indent="0">
                        <a:buNone/>
                      </a:pPr>
                      <a:r>
                        <a:rPr lang="en-US" sz="1250" dirty="0">
                          <a:solidFill>
                            <a:srgbClr val="EEF2EF"/>
                          </a:solidFill>
                          <a:latin typeface="Calibri" pitchFamily="34" charset="0"/>
                          <a:ea typeface="Calibri" pitchFamily="34" charset="-122"/>
                          <a:cs typeface="Calibri" pitchFamily="34" charset="-120"/>
                        </a:rPr>
                        <a:t>Balanced</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dirty="0">
                          <a:solidFill>
                            <a:srgbClr val="EEF2EF"/>
                          </a:solidFill>
                          <a:latin typeface="Courier New" panose="02070409020205090404" pitchFamily="34" charset="0"/>
                          <a:ea typeface="Courier New" panose="02070409020205090404" pitchFamily="34" charset="-122"/>
                          <a:cs typeface="Courier New" panose="02070409020205090404" pitchFamily="34" charset="-120"/>
                        </a:rPr>
                        <a:t>0.35</a:t>
                      </a:r>
                      <a:endParaRPr lang="en-US" sz="1250" dirty="0">
                        <a:latin typeface="Courier New" panose="02070409020205090404" pitchFamily="34" charset="0"/>
                        <a:ea typeface="Courier New" panose="02070409020205090404" pitchFamily="34" charset="0"/>
                        <a:cs typeface="Courier New" panose="02070409020205090404"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r>
              <a:tr h="384048">
                <a:tc>
                  <a:txBody>
                    <a:bodyPr/>
                    <a:lstStyle/>
                    <a:p>
                      <a:pPr marL="0" indent="0">
                        <a:buNone/>
                      </a:pPr>
                      <a:r>
                        <a:rPr lang="en-US" sz="1250" dirty="0">
                          <a:solidFill>
                            <a:srgbClr val="EEF2EF"/>
                          </a:solidFill>
                          <a:latin typeface="Calibri" pitchFamily="34" charset="0"/>
                          <a:ea typeface="Calibri" pitchFamily="34" charset="-122"/>
                          <a:cs typeface="Calibri" pitchFamily="34" charset="-120"/>
                        </a:rPr>
                        <a:t>Aggressive (bounded)</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dirty="0">
                          <a:solidFill>
                            <a:srgbClr val="EEF2EF"/>
                          </a:solidFill>
                          <a:latin typeface="Courier New" panose="02070409020205090404" pitchFamily="34" charset="0"/>
                          <a:ea typeface="Courier New" panose="02070409020205090404" pitchFamily="34" charset="-122"/>
                          <a:cs typeface="Courier New" panose="02070409020205090404" pitchFamily="34" charset="-120"/>
                        </a:rPr>
                        <a:t>0.55</a:t>
                      </a:r>
                      <a:endParaRPr lang="en-US" sz="1250" dirty="0">
                        <a:latin typeface="Courier New" panose="02070409020205090404" pitchFamily="34" charset="0"/>
                        <a:ea typeface="Courier New" panose="02070409020205090404" pitchFamily="34" charset="0"/>
                        <a:cs typeface="Courier New" panose="02070409020205090404"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r>
            </a:tbl>
          </a:graphicData>
        </a:graphic>
      </p:graphicFrame>
      <p:sp>
        <p:nvSpPr>
          <p:cNvPr id="15" name="Text 12"/>
          <p:cNvSpPr txBox="1"/>
          <p:nvPr/>
        </p:nvSpPr>
        <p:spPr>
          <a:xfrm>
            <a:off x="548640" y="6473952"/>
            <a:ext cx="5486400" cy="274320"/>
          </a:xfrm>
          <a:prstGeom prst="rect">
            <a:avLst/>
          </a:prstGeom>
          <a:noFill/>
        </p:spPr>
        <p:txBody>
          <a:bodyPr wrap="square" lIns="0" tIns="0" rIns="0" bIns="0" rtlCol="0" anchor="ctr"/>
          <a:lstStyle/>
          <a:p>
            <a:pPr marL="0" indent="0">
              <a:buNone/>
            </a:pPr>
            <a:endParaRPr lang="en-US" sz="1000" dirty="0"/>
          </a:p>
        </p:txBody>
      </p:sp>
      <p:sp>
        <p:nvSpPr>
          <p:cNvPr id="16" name="Text 13"/>
          <p:cNvSpPr txBox="1"/>
          <p:nvPr/>
        </p:nvSpPr>
        <p:spPr>
          <a:xfrm>
            <a:off x="8899855" y="6473952"/>
            <a:ext cx="2743200" cy="274320"/>
          </a:xfrm>
          <a:prstGeom prst="rect">
            <a:avLst/>
          </a:prstGeom>
          <a:noFill/>
        </p:spPr>
        <p:txBody>
          <a:bodyPr wrap="square" lIns="0" tIns="0" rIns="0" bIns="0" rtlCol="0" anchor="ctr"/>
          <a:lstStyle/>
          <a:p>
            <a:pPr marL="0" indent="0" algn="r">
              <a:buNone/>
            </a:pPr>
            <a:endParaRPr lang="en-US" sz="1000" dirty="0"/>
          </a:p>
        </p:txBody>
      </p:sp>
      <p:pic>
        <p:nvPicPr>
          <p:cNvPr id="17" name="Picture 16" descr="WhatsApp Image 2026-09-27 at 06.24.20"/>
          <p:cNvPicPr>
            <a:picLocks noChangeAspect="1"/>
          </p:cNvPicPr>
          <p:nvPr/>
        </p:nvPicPr>
        <p:blipFill>
          <a:blip r:embed="rId1"/>
          <a:stretch>
            <a:fillRect/>
          </a:stretch>
        </p:blipFill>
        <p:spPr>
          <a:xfrm>
            <a:off x="7486015" y="3681095"/>
            <a:ext cx="4374515" cy="3067050"/>
          </a:xfrm>
          <a:prstGeom prst="rect">
            <a:avLst/>
          </a:prstGeom>
        </p:spPr>
      </p:pic>
      <p:pic>
        <p:nvPicPr>
          <p:cNvPr id="18" name="Picture 17" descr="WhatsApp Image 2026-09-27 at 06.25.04"/>
          <p:cNvPicPr>
            <a:picLocks noChangeAspect="1"/>
          </p:cNvPicPr>
          <p:nvPr/>
        </p:nvPicPr>
        <p:blipFill>
          <a:blip r:embed="rId2"/>
          <a:stretch>
            <a:fillRect/>
          </a:stretch>
        </p:blipFill>
        <p:spPr>
          <a:xfrm>
            <a:off x="7505065" y="790575"/>
            <a:ext cx="4355465" cy="2749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A17"/>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p:spPr>
        <p:txBody>
          <a:bodyPr wrap="square" lIns="0" tIns="0" rIns="0" bIns="0" rtlCol="0" anchor="ctr"/>
          <a:lstStyle/>
          <a:p>
            <a:pPr marL="0" indent="0">
              <a:buNone/>
            </a:pPr>
            <a:r>
              <a:rPr lang="en-US" sz="2400" b="1" dirty="0">
                <a:solidFill>
                  <a:schemeClr val="accent6"/>
                </a:solidFill>
                <a:latin typeface="Calibri" pitchFamily="34" charset="0"/>
                <a:ea typeface="Calibri" pitchFamily="34" charset="-122"/>
                <a:cs typeface="Calibri" pitchFamily="34" charset="-120"/>
              </a:rPr>
              <a:t>Feasibility evidence</a:t>
            </a:r>
            <a:endParaRPr lang="en-US" sz="2400" b="1" dirty="0">
              <a:solidFill>
                <a:schemeClr val="accent6"/>
              </a:solidFill>
              <a:latin typeface="Calibri" pitchFamily="34" charset="0"/>
              <a:ea typeface="Calibri" pitchFamily="34" charset="-122"/>
              <a:cs typeface="Calibri" pitchFamily="34" charset="-120"/>
            </a:endParaRPr>
          </a:p>
        </p:txBody>
      </p:sp>
      <p:sp>
        <p:nvSpPr>
          <p:cNvPr id="3" name="Text 1"/>
          <p:cNvSpPr txBox="1"/>
          <p:nvPr/>
        </p:nvSpPr>
        <p:spPr>
          <a:xfrm>
            <a:off x="548640" y="713232"/>
            <a:ext cx="11064240" cy="822960"/>
          </a:xfrm>
          <a:prstGeom prst="rect">
            <a:avLst/>
          </a:prstGeom>
          <a:noFill/>
        </p:spPr>
        <p:txBody>
          <a:bodyPr wrap="square" lIns="0" tIns="0" rIns="0" bIns="0" rtlCol="0" anchor="ctr"/>
          <a:lstStyle/>
          <a:p>
            <a:pPr marL="0" indent="0">
              <a:buNone/>
            </a:pPr>
            <a:r>
              <a:rPr lang="en-US" b="1" dirty="0">
                <a:solidFill>
                  <a:srgbClr val="EEF2EF"/>
                </a:solidFill>
                <a:latin typeface="Cambria" pitchFamily="34" charset="0"/>
                <a:ea typeface="Cambria" pitchFamily="34" charset="-122"/>
                <a:cs typeface="Cambria" pitchFamily="34" charset="-120"/>
              </a:rPr>
              <a:t>Two arguments for the DISCOM, kept honestly separate</a:t>
            </a:r>
            <a:endParaRPr lang="en-US" dirty="0"/>
          </a:p>
        </p:txBody>
      </p:sp>
      <p:sp>
        <p:nvSpPr>
          <p:cNvPr id="4" name="Shape 2"/>
          <p:cNvSpPr/>
          <p:nvPr/>
        </p:nvSpPr>
        <p:spPr>
          <a:xfrm>
            <a:off x="513080" y="1536065"/>
            <a:ext cx="5201920" cy="1717040"/>
          </a:xfrm>
          <a:prstGeom prst="roundRect">
            <a:avLst>
              <a:gd name="adj" fmla="val 4118"/>
            </a:avLst>
          </a:prstGeom>
          <a:solidFill>
            <a:srgbClr val="132621"/>
          </a:solidFill>
          <a:ln w="12700">
            <a:solidFill>
              <a:srgbClr val="26342F"/>
            </a:solidFill>
            <a:prstDash val="solid"/>
          </a:ln>
        </p:spPr>
      </p:sp>
      <p:sp>
        <p:nvSpPr>
          <p:cNvPr id="5" name="Text 3"/>
          <p:cNvSpPr txBox="1"/>
          <p:nvPr/>
        </p:nvSpPr>
        <p:spPr>
          <a:xfrm>
            <a:off x="734060" y="1728470"/>
            <a:ext cx="4649470" cy="403860"/>
          </a:xfrm>
          <a:prstGeom prst="rect">
            <a:avLst/>
          </a:prstGeom>
          <a:noFill/>
        </p:spPr>
        <p:txBody>
          <a:bodyPr wrap="square" lIns="0" tIns="0" rIns="0" bIns="0" rtlCol="0" anchor="ctr"/>
          <a:lstStyle/>
          <a:p>
            <a:pPr marL="0" indent="0">
              <a:buNone/>
            </a:pPr>
            <a:r>
              <a:rPr lang="en-US" sz="1550" b="1" dirty="0">
                <a:solidFill>
                  <a:srgbClr val="3FAE87"/>
                </a:solidFill>
                <a:latin typeface="Cambria" pitchFamily="34" charset="0"/>
                <a:ea typeface="Cambria" pitchFamily="34" charset="-122"/>
                <a:cs typeface="Cambria" pitchFamily="34" charset="-120"/>
              </a:rPr>
              <a:t>Loss reduction the real, modest</a:t>
            </a:r>
            <a:endParaRPr lang="en-US" sz="1550" dirty="0"/>
          </a:p>
        </p:txBody>
      </p:sp>
      <p:sp>
        <p:nvSpPr>
          <p:cNvPr id="6" name="Text 4"/>
          <p:cNvSpPr txBox="1"/>
          <p:nvPr/>
        </p:nvSpPr>
        <p:spPr>
          <a:xfrm>
            <a:off x="734060" y="2162175"/>
            <a:ext cx="4649470" cy="858520"/>
          </a:xfrm>
          <a:prstGeom prst="rect">
            <a:avLst/>
          </a:prstGeom>
          <a:noFill/>
        </p:spPr>
        <p:txBody>
          <a:bodyPr wrap="square" lIns="0" tIns="0" rIns="0" bIns="0" rtlCol="0" anchor="ctr"/>
          <a:lstStyle/>
          <a:p>
            <a:pPr marL="0" indent="0">
              <a:lnSpc>
                <a:spcPct val="125000"/>
              </a:lnSpc>
              <a:buNone/>
            </a:pPr>
            <a:r>
              <a:rPr lang="en-US" sz="1250" dirty="0">
                <a:solidFill>
                  <a:srgbClr val="93A39D"/>
                </a:solidFill>
                <a:latin typeface="Calibri" pitchFamily="34" charset="0"/>
                <a:ea typeface="Calibri" pitchFamily="34" charset="-122"/>
                <a:cs typeface="Calibri" pitchFamily="34" charset="-120"/>
              </a:rPr>
              <a:t>Gujarat DISCOMs already run about 8.86% aggregate technical &amp; commercial loss versus a 19.01% national average; Torrent Power reported 6.46% by FY21. The baseline is already efficient, so this argument is real but not transformative.</a:t>
            </a:r>
            <a:endParaRPr lang="en-US" sz="1250" dirty="0"/>
          </a:p>
        </p:txBody>
      </p:sp>
      <p:sp>
        <p:nvSpPr>
          <p:cNvPr id="7" name="Shape 5"/>
          <p:cNvSpPr/>
          <p:nvPr/>
        </p:nvSpPr>
        <p:spPr>
          <a:xfrm>
            <a:off x="5999480" y="1536065"/>
            <a:ext cx="5201920" cy="1717040"/>
          </a:xfrm>
          <a:prstGeom prst="roundRect">
            <a:avLst>
              <a:gd name="adj" fmla="val 4118"/>
            </a:avLst>
          </a:prstGeom>
          <a:solidFill>
            <a:srgbClr val="132621"/>
          </a:solidFill>
          <a:ln w="12700">
            <a:solidFill>
              <a:srgbClr val="26342F"/>
            </a:solidFill>
            <a:prstDash val="solid"/>
          </a:ln>
        </p:spPr>
      </p:sp>
      <p:sp>
        <p:nvSpPr>
          <p:cNvPr id="8" name="Text 6"/>
          <p:cNvSpPr txBox="1"/>
          <p:nvPr/>
        </p:nvSpPr>
        <p:spPr>
          <a:xfrm>
            <a:off x="6414770" y="1731010"/>
            <a:ext cx="4649470" cy="403860"/>
          </a:xfrm>
          <a:prstGeom prst="rect">
            <a:avLst/>
          </a:prstGeom>
          <a:noFill/>
        </p:spPr>
        <p:txBody>
          <a:bodyPr wrap="square" lIns="0" tIns="0" rIns="0" bIns="0" rtlCol="0" anchor="ctr"/>
          <a:lstStyle/>
          <a:p>
            <a:pPr marL="0" indent="0">
              <a:buNone/>
            </a:pPr>
            <a:r>
              <a:rPr lang="en-US" sz="1550" b="1" dirty="0">
                <a:solidFill>
                  <a:srgbClr val="5C86C9"/>
                </a:solidFill>
                <a:latin typeface="Cambria" pitchFamily="34" charset="0"/>
                <a:ea typeface="Cambria" pitchFamily="34" charset="-122"/>
                <a:cs typeface="Cambria" pitchFamily="34" charset="-120"/>
              </a:rPr>
              <a:t>Deferred capex and the stronger case</a:t>
            </a:r>
            <a:endParaRPr lang="en-US" sz="1550" dirty="0"/>
          </a:p>
        </p:txBody>
      </p:sp>
      <p:sp>
        <p:nvSpPr>
          <p:cNvPr id="9" name="Text 7"/>
          <p:cNvSpPr txBox="1"/>
          <p:nvPr/>
        </p:nvSpPr>
        <p:spPr>
          <a:xfrm>
            <a:off x="6414770" y="2162175"/>
            <a:ext cx="4649470" cy="858520"/>
          </a:xfrm>
          <a:prstGeom prst="rect">
            <a:avLst/>
          </a:prstGeom>
          <a:noFill/>
        </p:spPr>
        <p:txBody>
          <a:bodyPr wrap="square" lIns="0" tIns="0" rIns="0" bIns="0" rtlCol="0" anchor="ctr"/>
          <a:lstStyle/>
          <a:p>
            <a:pPr marL="0" indent="0">
              <a:lnSpc>
                <a:spcPct val="125000"/>
              </a:lnSpc>
              <a:buNone/>
            </a:pPr>
            <a:r>
              <a:rPr lang="en-US" sz="1250" dirty="0">
                <a:solidFill>
                  <a:srgbClr val="93A39D"/>
                </a:solidFill>
                <a:latin typeface="Calibri" pitchFamily="34" charset="0"/>
                <a:ea typeface="Calibri" pitchFamily="34" charset="-122"/>
                <a:cs typeface="Calibri" pitchFamily="34" charset="-120"/>
              </a:rPr>
              <a:t>At an illustrative 1.4 kWh/home/day of coordinated dispatch, the feeder’s annual value already competes with a transformer’s purchase price:</a:t>
            </a:r>
            <a:endParaRPr lang="en-US" sz="1250" dirty="0"/>
          </a:p>
        </p:txBody>
      </p:sp>
      <p:graphicFrame>
        <p:nvGraphicFramePr>
          <p:cNvPr id="10" name="Table 0"/>
          <p:cNvGraphicFramePr>
            <a:graphicFrameLocks noGrp="1"/>
          </p:cNvGraphicFramePr>
          <p:nvPr/>
        </p:nvGraphicFramePr>
        <p:xfrm>
          <a:off x="548640" y="3693795"/>
          <a:ext cx="10671175" cy="2499360"/>
        </p:xfrm>
        <a:graphic>
          <a:graphicData uri="http://schemas.openxmlformats.org/drawingml/2006/table">
            <a:tbl>
              <a:tblPr/>
              <a:tblGrid>
                <a:gridCol w="2969260"/>
                <a:gridCol w="2320290"/>
                <a:gridCol w="5381625"/>
              </a:tblGrid>
              <a:tr h="624840">
                <a:tc>
                  <a:txBody>
                    <a:bodyPr/>
                    <a:lstStyle/>
                    <a:p>
                      <a:pPr marL="0" indent="0">
                        <a:buNone/>
                      </a:pPr>
                      <a:r>
                        <a:rPr lang="en-US" sz="1250" b="1" dirty="0">
                          <a:solidFill>
                            <a:srgbClr val="93A39D"/>
                          </a:solidFill>
                          <a:latin typeface="Calibri" pitchFamily="34" charset="0"/>
                          <a:ea typeface="Calibri" pitchFamily="34" charset="-122"/>
                          <a:cs typeface="Calibri" pitchFamily="34" charset="-120"/>
                        </a:rPr>
                        <a:t>Homes on feeder</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b="1" dirty="0">
                          <a:solidFill>
                            <a:srgbClr val="93A39D"/>
                          </a:solidFill>
                          <a:latin typeface="Calibri" pitchFamily="34" charset="0"/>
                          <a:ea typeface="Calibri" pitchFamily="34" charset="-122"/>
                          <a:cs typeface="Calibri" pitchFamily="34" charset="-120"/>
                        </a:rPr>
                        <a:t>Annual value</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b="1" dirty="0">
                          <a:solidFill>
                            <a:srgbClr val="93A39D"/>
                          </a:solidFill>
                          <a:latin typeface="Calibri" pitchFamily="34" charset="0"/>
                          <a:ea typeface="Calibri" pitchFamily="34" charset="-122"/>
                          <a:cs typeface="Calibri" pitchFamily="34" charset="-120"/>
                        </a:rPr>
                        <a:t>Against a reference transformer</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r>
              <a:tr h="624840">
                <a:tc>
                  <a:txBody>
                    <a:bodyPr/>
                    <a:lstStyle/>
                    <a:p>
                      <a:pPr marL="0" indent="0">
                        <a:buNone/>
                      </a:pPr>
                      <a:r>
                        <a:rPr lang="en-US" sz="1250" dirty="0">
                          <a:solidFill>
                            <a:srgbClr val="EEF2EF"/>
                          </a:solidFill>
                          <a:latin typeface="Calibri" pitchFamily="34" charset="0"/>
                          <a:ea typeface="Calibri" pitchFamily="34" charset="-122"/>
                          <a:cs typeface="Calibri" pitchFamily="34" charset="-120"/>
                        </a:rPr>
                        <a:t>200</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dirty="0">
                          <a:solidFill>
                            <a:srgbClr val="EEF2EF"/>
                          </a:solidFill>
                          <a:latin typeface="Courier New" panose="02070409020205090404" pitchFamily="34" charset="0"/>
                          <a:ea typeface="Courier New" panose="02070409020205090404" pitchFamily="34" charset="-122"/>
                          <a:cs typeface="Courier New" panose="02070409020205090404" pitchFamily="34" charset="-120"/>
                        </a:rPr>
                        <a:t>₹4.24 L</a:t>
                      </a:r>
                      <a:endParaRPr lang="en-US" sz="1250" dirty="0">
                        <a:latin typeface="Courier New" panose="02070409020205090404" pitchFamily="34" charset="0"/>
                        <a:ea typeface="Courier New" panose="02070409020205090404" pitchFamily="34" charset="0"/>
                        <a:cs typeface="Courier New" panose="02070409020205090404"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dirty="0">
                          <a:solidFill>
                            <a:srgbClr val="EEF2EF"/>
                          </a:solidFill>
                          <a:latin typeface="Calibri" pitchFamily="34" charset="0"/>
                          <a:ea typeface="Calibri" pitchFamily="34" charset="-122"/>
                          <a:cs typeface="Calibri" pitchFamily="34" charset="-120"/>
                        </a:rPr>
                        <a:t>~76% of a 315 kVA unit (₹5.6–5.7L)</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r>
              <a:tr h="624840">
                <a:tc>
                  <a:txBody>
                    <a:bodyPr/>
                    <a:lstStyle/>
                    <a:p>
                      <a:pPr marL="0" indent="0">
                        <a:buNone/>
                      </a:pPr>
                      <a:r>
                        <a:rPr lang="en-US" sz="1250" dirty="0">
                          <a:solidFill>
                            <a:srgbClr val="EEF2EF"/>
                          </a:solidFill>
                          <a:latin typeface="Calibri" pitchFamily="34" charset="0"/>
                          <a:ea typeface="Calibri" pitchFamily="34" charset="-122"/>
                          <a:cs typeface="Calibri" pitchFamily="34" charset="-120"/>
                        </a:rPr>
                        <a:t>300</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dirty="0">
                          <a:solidFill>
                            <a:srgbClr val="EEF2EF"/>
                          </a:solidFill>
                          <a:latin typeface="Courier New" panose="02070409020205090404" pitchFamily="34" charset="0"/>
                          <a:ea typeface="Courier New" panose="02070409020205090404" pitchFamily="34" charset="-122"/>
                          <a:cs typeface="Courier New" panose="02070409020205090404" pitchFamily="34" charset="-120"/>
                        </a:rPr>
                        <a:t>₹6.36 L</a:t>
                      </a:r>
                      <a:endParaRPr lang="en-US" sz="1250" dirty="0">
                        <a:latin typeface="Courier New" panose="02070409020205090404" pitchFamily="34" charset="0"/>
                        <a:ea typeface="Courier New" panose="02070409020205090404" pitchFamily="34" charset="0"/>
                        <a:cs typeface="Courier New" panose="02070409020205090404"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dirty="0">
                          <a:solidFill>
                            <a:srgbClr val="EEF2EF"/>
                          </a:solidFill>
                          <a:latin typeface="Calibri" pitchFamily="34" charset="0"/>
                          <a:ea typeface="Calibri" pitchFamily="34" charset="-122"/>
                          <a:cs typeface="Calibri" pitchFamily="34" charset="-120"/>
                        </a:rPr>
                        <a:t>exceeds a 315 kVA unit</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r>
              <a:tr h="624840">
                <a:tc>
                  <a:txBody>
                    <a:bodyPr/>
                    <a:lstStyle/>
                    <a:p>
                      <a:pPr marL="0" indent="0">
                        <a:buNone/>
                      </a:pPr>
                      <a:r>
                        <a:rPr lang="en-US" sz="1250" dirty="0">
                          <a:solidFill>
                            <a:srgbClr val="EEF2EF"/>
                          </a:solidFill>
                          <a:latin typeface="Calibri" pitchFamily="34" charset="0"/>
                          <a:ea typeface="Calibri" pitchFamily="34" charset="-122"/>
                          <a:cs typeface="Calibri" pitchFamily="34" charset="-120"/>
                        </a:rPr>
                        <a:t>500</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dirty="0">
                          <a:solidFill>
                            <a:srgbClr val="EEF2EF"/>
                          </a:solidFill>
                          <a:latin typeface="Courier New" panose="02070409020205090404" pitchFamily="34" charset="0"/>
                          <a:ea typeface="Courier New" panose="02070409020205090404" pitchFamily="34" charset="-122"/>
                          <a:cs typeface="Courier New" panose="02070409020205090404" pitchFamily="34" charset="-120"/>
                        </a:rPr>
                        <a:t>₹10.60 L</a:t>
                      </a:r>
                      <a:endParaRPr lang="en-US" sz="1250" dirty="0">
                        <a:latin typeface="Courier New" panose="02070409020205090404" pitchFamily="34" charset="0"/>
                        <a:ea typeface="Courier New" panose="02070409020205090404" pitchFamily="34" charset="0"/>
                        <a:cs typeface="Courier New" panose="02070409020205090404"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c>
                  <a:txBody>
                    <a:bodyPr/>
                    <a:lstStyle/>
                    <a:p>
                      <a:pPr marL="0" indent="0">
                        <a:buNone/>
                      </a:pPr>
                      <a:r>
                        <a:rPr lang="en-US" sz="1250" dirty="0">
                          <a:solidFill>
                            <a:srgbClr val="EEF2EF"/>
                          </a:solidFill>
                          <a:latin typeface="Calibri" pitchFamily="34" charset="0"/>
                          <a:ea typeface="Calibri" pitchFamily="34" charset="-122"/>
                          <a:cs typeface="Calibri" pitchFamily="34" charset="-120"/>
                        </a:rPr>
                        <a:t>~131% of a 630 kVA unit (₹8.0–8.1L)</a:t>
                      </a:r>
                      <a:endParaRPr lang="en-US" sz="1250" dirty="0">
                        <a:latin typeface="Calibri" pitchFamily="34" charset="0"/>
                        <a:ea typeface="Calibri" pitchFamily="34" charset="0"/>
                        <a:cs typeface="Calibri" pitchFamily="34" charset="0"/>
                      </a:endParaRPr>
                    </a:p>
                  </a:txBody>
                  <a:tcPr>
                    <a:lnL w="12700" cap="flat" cmpd="sng" algn="ctr">
                      <a:solidFill>
                        <a:srgbClr val="26342F"/>
                      </a:solidFill>
                      <a:prstDash val="solid"/>
                      <a:round/>
                      <a:headEnd type="none" w="med" len="med"/>
                      <a:tailEnd type="none" w="med" len="med"/>
                    </a:lnL>
                    <a:lnR w="12700" cap="flat" cmpd="sng" algn="ctr">
                      <a:solidFill>
                        <a:srgbClr val="26342F"/>
                      </a:solidFill>
                      <a:prstDash val="solid"/>
                      <a:round/>
                      <a:headEnd type="none" w="med" len="med"/>
                      <a:tailEnd type="none" w="med" len="med"/>
                    </a:lnR>
                    <a:lnT w="12700" cap="flat" cmpd="sng" algn="ctr">
                      <a:solidFill>
                        <a:srgbClr val="26342F"/>
                      </a:solidFill>
                      <a:prstDash val="solid"/>
                      <a:round/>
                      <a:headEnd type="none" w="med" len="med"/>
                      <a:tailEnd type="none" w="med" len="med"/>
                    </a:lnT>
                    <a:lnB w="12700" cap="flat" cmpd="sng" algn="ctr">
                      <a:solidFill>
                        <a:srgbClr val="26342F"/>
                      </a:solidFill>
                      <a:prstDash val="solid"/>
                      <a:round/>
                      <a:headEnd type="none" w="med" len="med"/>
                      <a:tailEnd type="none" w="med" len="med"/>
                    </a:lnB>
                    <a:solidFill>
                      <a:srgbClr val="132621"/>
                    </a:solidFill>
                  </a:tcPr>
                </a:tc>
              </a:tr>
            </a:tbl>
          </a:graphicData>
        </a:graphic>
      </p:graphicFrame>
      <p:sp>
        <p:nvSpPr>
          <p:cNvPr id="12" name="Text 9"/>
          <p:cNvSpPr txBox="1"/>
          <p:nvPr/>
        </p:nvSpPr>
        <p:spPr>
          <a:xfrm>
            <a:off x="548640" y="6473952"/>
            <a:ext cx="5486400" cy="274320"/>
          </a:xfrm>
          <a:prstGeom prst="rect">
            <a:avLst/>
          </a:prstGeom>
          <a:noFill/>
        </p:spPr>
        <p:txBody>
          <a:bodyPr wrap="square" lIns="0" tIns="0" rIns="0" bIns="0" rtlCol="0" anchor="ctr"/>
          <a:lstStyle/>
          <a:p>
            <a:pPr marL="0" indent="0">
              <a:buNone/>
            </a:pPr>
            <a:endParaRPr lang="en-US" sz="1000" dirty="0"/>
          </a:p>
        </p:txBody>
      </p:sp>
      <p:sp>
        <p:nvSpPr>
          <p:cNvPr id="13" name="Text 10"/>
          <p:cNvSpPr txBox="1"/>
          <p:nvPr/>
        </p:nvSpPr>
        <p:spPr>
          <a:xfrm>
            <a:off x="8899855" y="6473952"/>
            <a:ext cx="2743200" cy="274320"/>
          </a:xfrm>
          <a:prstGeom prst="rect">
            <a:avLst/>
          </a:prstGeom>
          <a:noFill/>
        </p:spPr>
        <p:txBody>
          <a:bodyPr wrap="square" lIns="0" tIns="0" rIns="0" bIns="0" rtlCol="0" anchor="ctr"/>
          <a:lstStyle/>
          <a:p>
            <a:pPr marL="0" indent="0" algn="r">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A17"/>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p:spPr>
        <p:txBody>
          <a:bodyPr wrap="square" lIns="0" tIns="0" rIns="0" bIns="0" rtlCol="0" anchor="ctr"/>
          <a:lstStyle/>
          <a:p>
            <a:pPr marL="0" indent="0">
              <a:buNone/>
            </a:pPr>
            <a:r>
              <a:rPr lang="en-US" sz="2400" b="1" dirty="0">
                <a:solidFill>
                  <a:schemeClr val="accent6"/>
                </a:solidFill>
                <a:latin typeface="Calibri" pitchFamily="34" charset="0"/>
                <a:ea typeface="Calibri" pitchFamily="34" charset="-122"/>
                <a:cs typeface="Calibri" pitchFamily="34" charset="-120"/>
              </a:rPr>
              <a:t>Next 3 months</a:t>
            </a:r>
            <a:endParaRPr lang="en-US" sz="2400" b="1" dirty="0">
              <a:solidFill>
                <a:schemeClr val="accent6"/>
              </a:solidFill>
              <a:latin typeface="Calibri" pitchFamily="34" charset="0"/>
              <a:ea typeface="Calibri" pitchFamily="34" charset="-122"/>
              <a:cs typeface="Calibri" pitchFamily="34" charset="-120"/>
            </a:endParaRPr>
          </a:p>
        </p:txBody>
      </p:sp>
      <p:sp>
        <p:nvSpPr>
          <p:cNvPr id="3" name="Text 1"/>
          <p:cNvSpPr txBox="1"/>
          <p:nvPr/>
        </p:nvSpPr>
        <p:spPr>
          <a:xfrm>
            <a:off x="548640" y="713232"/>
            <a:ext cx="11064240" cy="822960"/>
          </a:xfrm>
          <a:prstGeom prst="rect">
            <a:avLst/>
          </a:prstGeom>
          <a:noFill/>
        </p:spPr>
        <p:txBody>
          <a:bodyPr wrap="square" lIns="0" tIns="0" rIns="0" bIns="0" rtlCol="0" anchor="ctr"/>
          <a:lstStyle/>
          <a:p>
            <a:pPr marL="0" indent="0">
              <a:buNone/>
            </a:pPr>
            <a:r>
              <a:rPr lang="en-US" b="1" dirty="0">
                <a:solidFill>
                  <a:srgbClr val="EEF2EF"/>
                </a:solidFill>
                <a:latin typeface="Cambria" pitchFamily="34" charset="0"/>
                <a:ea typeface="Cambria" pitchFamily="34" charset="-122"/>
                <a:cs typeface="Cambria" pitchFamily="34" charset="-120"/>
              </a:rPr>
              <a:t>Phase 1: prove it on one feeder before scaling</a:t>
            </a:r>
            <a:endParaRPr lang="en-US" dirty="0"/>
          </a:p>
        </p:txBody>
      </p:sp>
      <p:sp>
        <p:nvSpPr>
          <p:cNvPr id="4" name="Shape 2"/>
          <p:cNvSpPr/>
          <p:nvPr/>
        </p:nvSpPr>
        <p:spPr>
          <a:xfrm>
            <a:off x="320040" y="1783080"/>
            <a:ext cx="2332990" cy="635"/>
          </a:xfrm>
          <a:prstGeom prst="line">
            <a:avLst/>
          </a:prstGeom>
          <a:noFill/>
          <a:ln w="31750">
            <a:solidFill>
              <a:schemeClr val="bg1"/>
            </a:solidFill>
            <a:prstDash val="solid"/>
          </a:ln>
        </p:spPr>
      </p:sp>
      <p:sp>
        <p:nvSpPr>
          <p:cNvPr id="5" name="Text 3"/>
          <p:cNvSpPr txBox="1"/>
          <p:nvPr/>
        </p:nvSpPr>
        <p:spPr>
          <a:xfrm>
            <a:off x="320040" y="1920240"/>
            <a:ext cx="2743200" cy="567690"/>
          </a:xfrm>
          <a:prstGeom prst="rect">
            <a:avLst/>
          </a:prstGeom>
          <a:noFill/>
        </p:spPr>
        <p:txBody>
          <a:bodyPr wrap="square" lIns="0" tIns="0" rIns="0" bIns="0" rtlCol="0" anchor="ctr"/>
          <a:lstStyle/>
          <a:p>
            <a:pPr marL="0" indent="0">
              <a:buNone/>
            </a:pPr>
            <a:r>
              <a:rPr lang="en-US" sz="1050"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Weeks 1–3</a:t>
            </a:r>
            <a:endParaRPr lang="en-US" sz="1050" dirty="0"/>
          </a:p>
        </p:txBody>
      </p:sp>
      <p:sp>
        <p:nvSpPr>
          <p:cNvPr id="6" name="Text 4"/>
          <p:cNvSpPr txBox="1"/>
          <p:nvPr/>
        </p:nvSpPr>
        <p:spPr>
          <a:xfrm>
            <a:off x="320040" y="2212975"/>
            <a:ext cx="2743200" cy="946150"/>
          </a:xfrm>
          <a:prstGeom prst="rect">
            <a:avLst/>
          </a:prstGeom>
          <a:noFill/>
        </p:spPr>
        <p:txBody>
          <a:bodyPr wrap="square" lIns="0" tIns="0" rIns="0" bIns="0" rtlCol="0" anchor="ctr"/>
          <a:lstStyle/>
          <a:p>
            <a:pPr marL="0" indent="0">
              <a:buNone/>
            </a:pPr>
            <a:r>
              <a:rPr lang="en-US" sz="1500" b="1" dirty="0">
                <a:solidFill>
                  <a:srgbClr val="EEF2EF"/>
                </a:solidFill>
                <a:latin typeface="Calibri" pitchFamily="34" charset="0"/>
                <a:ea typeface="Calibri" pitchFamily="34" charset="-122"/>
                <a:cs typeface="Calibri" pitchFamily="34" charset="-120"/>
              </a:rPr>
              <a:t>Gateway deployment</a:t>
            </a:r>
            <a:endParaRPr lang="en-US" sz="1500" dirty="0"/>
          </a:p>
        </p:txBody>
      </p:sp>
      <p:sp>
        <p:nvSpPr>
          <p:cNvPr id="7" name="Text 5"/>
          <p:cNvSpPr txBox="1"/>
          <p:nvPr/>
        </p:nvSpPr>
        <p:spPr>
          <a:xfrm>
            <a:off x="320040" y="2743200"/>
            <a:ext cx="2743200" cy="2113280"/>
          </a:xfrm>
          <a:prstGeom prst="rect">
            <a:avLst/>
          </a:prstGeom>
          <a:noFill/>
        </p:spPr>
        <p:txBody>
          <a:bodyPr wrap="square" lIns="0" tIns="0" rIns="0" bIns="0" rtlCol="0" anchor="ctr"/>
          <a:lstStyle/>
          <a:p>
            <a:pPr marL="342900" indent="-342900">
              <a:lnSpc>
                <a:spcPct val="125000"/>
              </a:lnSpc>
              <a:spcAft>
                <a:spcPts val="600"/>
              </a:spcAft>
              <a:buSzPct val="100000"/>
              <a:buChar char="•"/>
            </a:pPr>
            <a:r>
              <a:rPr lang="en-US" sz="1200" dirty="0">
                <a:solidFill>
                  <a:srgbClr val="93A39D"/>
                </a:solidFill>
                <a:latin typeface="Calibri" pitchFamily="34" charset="0"/>
                <a:ea typeface="Calibri" pitchFamily="34" charset="-122"/>
                <a:cs typeface="Calibri" pitchFamily="34" charset="-120"/>
              </a:rPr>
              <a:t>IEEE 2030.5 / SunSpec translation</a:t>
            </a:r>
            <a:endParaRPr lang="en-US" sz="1200" dirty="0"/>
          </a:p>
          <a:p>
            <a:pPr marL="342900" indent="-342900">
              <a:lnSpc>
                <a:spcPct val="125000"/>
              </a:lnSpc>
              <a:spcAft>
                <a:spcPts val="600"/>
              </a:spcAft>
              <a:buSzPct val="100000"/>
              <a:buChar char="•"/>
            </a:pPr>
            <a:r>
              <a:rPr lang="en-US" sz="1200" dirty="0">
                <a:solidFill>
                  <a:srgbClr val="93A39D"/>
                </a:solidFill>
                <a:latin typeface="Calibri" pitchFamily="34" charset="0"/>
                <a:ea typeface="Calibri" pitchFamily="34" charset="-122"/>
                <a:cs typeface="Calibri" pitchFamily="34" charset="-120"/>
              </a:rPr>
              <a:t>50–100 homes, single feeder</a:t>
            </a:r>
            <a:endParaRPr lang="en-US" sz="1200" dirty="0"/>
          </a:p>
        </p:txBody>
      </p:sp>
      <p:sp>
        <p:nvSpPr>
          <p:cNvPr id="8" name="Shape 6"/>
          <p:cNvSpPr/>
          <p:nvPr/>
        </p:nvSpPr>
        <p:spPr>
          <a:xfrm>
            <a:off x="3063240" y="1783080"/>
            <a:ext cx="2419350" cy="635"/>
          </a:xfrm>
          <a:prstGeom prst="line">
            <a:avLst/>
          </a:prstGeom>
          <a:noFill/>
          <a:ln w="31750">
            <a:solidFill>
              <a:schemeClr val="bg1"/>
            </a:solidFill>
            <a:prstDash val="solid"/>
          </a:ln>
        </p:spPr>
      </p:sp>
      <p:sp>
        <p:nvSpPr>
          <p:cNvPr id="9" name="Text 7"/>
          <p:cNvSpPr txBox="1"/>
          <p:nvPr/>
        </p:nvSpPr>
        <p:spPr>
          <a:xfrm>
            <a:off x="3063240" y="1920240"/>
            <a:ext cx="2743200" cy="567690"/>
          </a:xfrm>
          <a:prstGeom prst="rect">
            <a:avLst/>
          </a:prstGeom>
          <a:noFill/>
        </p:spPr>
        <p:txBody>
          <a:bodyPr wrap="square" lIns="0" tIns="0" rIns="0" bIns="0" rtlCol="0" anchor="ctr"/>
          <a:lstStyle/>
          <a:p>
            <a:pPr marL="0" indent="0">
              <a:buNone/>
            </a:pPr>
            <a:r>
              <a:rPr lang="en-US" sz="1050"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Weeks 4–7</a:t>
            </a:r>
            <a:endParaRPr lang="en-US" sz="1050" dirty="0"/>
          </a:p>
        </p:txBody>
      </p:sp>
      <p:sp>
        <p:nvSpPr>
          <p:cNvPr id="10" name="Text 8"/>
          <p:cNvSpPr txBox="1"/>
          <p:nvPr/>
        </p:nvSpPr>
        <p:spPr>
          <a:xfrm>
            <a:off x="3063240" y="2212975"/>
            <a:ext cx="2743200" cy="946150"/>
          </a:xfrm>
          <a:prstGeom prst="rect">
            <a:avLst/>
          </a:prstGeom>
          <a:noFill/>
        </p:spPr>
        <p:txBody>
          <a:bodyPr wrap="square" lIns="0" tIns="0" rIns="0" bIns="0" rtlCol="0" anchor="ctr"/>
          <a:lstStyle/>
          <a:p>
            <a:pPr marL="0" indent="0">
              <a:buNone/>
            </a:pPr>
            <a:r>
              <a:rPr lang="en-US" sz="1500" b="1" dirty="0">
                <a:solidFill>
                  <a:srgbClr val="EEF2EF"/>
                </a:solidFill>
                <a:latin typeface="Calibri" pitchFamily="34" charset="0"/>
                <a:ea typeface="Calibri" pitchFamily="34" charset="-122"/>
                <a:cs typeface="Calibri" pitchFamily="34" charset="-120"/>
              </a:rPr>
              <a:t>Rule-based dispatch</a:t>
            </a:r>
            <a:endParaRPr lang="en-US" sz="1500" dirty="0"/>
          </a:p>
        </p:txBody>
      </p:sp>
      <p:sp>
        <p:nvSpPr>
          <p:cNvPr id="11" name="Text 9"/>
          <p:cNvSpPr txBox="1"/>
          <p:nvPr/>
        </p:nvSpPr>
        <p:spPr>
          <a:xfrm>
            <a:off x="3063240" y="2743200"/>
            <a:ext cx="2743200" cy="2113280"/>
          </a:xfrm>
          <a:prstGeom prst="rect">
            <a:avLst/>
          </a:prstGeom>
          <a:noFill/>
        </p:spPr>
        <p:txBody>
          <a:bodyPr wrap="square" lIns="0" tIns="0" rIns="0" bIns="0" rtlCol="0" anchor="ctr"/>
          <a:lstStyle/>
          <a:p>
            <a:pPr marL="342900" indent="-342900">
              <a:lnSpc>
                <a:spcPct val="125000"/>
              </a:lnSpc>
              <a:spcAft>
                <a:spcPts val="600"/>
              </a:spcAft>
              <a:buSzPct val="100000"/>
              <a:buChar char="•"/>
            </a:pPr>
            <a:r>
              <a:rPr lang="en-US" sz="1200" dirty="0">
                <a:solidFill>
                  <a:srgbClr val="93A39D"/>
                </a:solidFill>
                <a:latin typeface="Calibri" pitchFamily="34" charset="0"/>
                <a:ea typeface="Calibri" pitchFamily="34" charset="-122"/>
                <a:cs typeface="Calibri" pitchFamily="34" charset="-120"/>
              </a:rPr>
              <a:t>Charge 10:00–16:00</a:t>
            </a:r>
            <a:endParaRPr lang="en-US" sz="1200" dirty="0"/>
          </a:p>
          <a:p>
            <a:pPr marL="342900" indent="-342900">
              <a:lnSpc>
                <a:spcPct val="125000"/>
              </a:lnSpc>
              <a:spcAft>
                <a:spcPts val="600"/>
              </a:spcAft>
              <a:buSzPct val="100000"/>
              <a:buChar char="•"/>
            </a:pPr>
            <a:r>
              <a:rPr lang="en-US" sz="1200" dirty="0">
                <a:solidFill>
                  <a:srgbClr val="93A39D"/>
                </a:solidFill>
                <a:latin typeface="Calibri" pitchFamily="34" charset="0"/>
                <a:ea typeface="Calibri" pitchFamily="34" charset="-122"/>
                <a:cs typeface="Calibri" pitchFamily="34" charset="-120"/>
              </a:rPr>
              <a:t>Discharge 18:00–22:00</a:t>
            </a:r>
            <a:endParaRPr lang="en-US" sz="1200" dirty="0"/>
          </a:p>
          <a:p>
            <a:pPr marL="342900" indent="-342900">
              <a:lnSpc>
                <a:spcPct val="125000"/>
              </a:lnSpc>
              <a:spcAft>
                <a:spcPts val="600"/>
              </a:spcAft>
              <a:buSzPct val="100000"/>
              <a:buChar char="•"/>
            </a:pPr>
            <a:r>
              <a:rPr lang="en-US" sz="1200" dirty="0">
                <a:solidFill>
                  <a:srgbClr val="93A39D"/>
                </a:solidFill>
                <a:latin typeface="Calibri" pitchFamily="34" charset="0"/>
                <a:ea typeface="Calibri" pitchFamily="34" charset="-122"/>
                <a:cs typeface="Calibri" pitchFamily="34" charset="-120"/>
              </a:rPr>
              <a:t>Reserve-floor formula live</a:t>
            </a:r>
            <a:endParaRPr lang="en-US" sz="1200" dirty="0"/>
          </a:p>
        </p:txBody>
      </p:sp>
      <p:sp>
        <p:nvSpPr>
          <p:cNvPr id="12" name="Shape 10"/>
          <p:cNvSpPr/>
          <p:nvPr/>
        </p:nvSpPr>
        <p:spPr>
          <a:xfrm>
            <a:off x="5806440" y="1783080"/>
            <a:ext cx="2424430" cy="635"/>
          </a:xfrm>
          <a:prstGeom prst="line">
            <a:avLst/>
          </a:prstGeom>
          <a:noFill/>
          <a:ln w="31750">
            <a:solidFill>
              <a:schemeClr val="bg1"/>
            </a:solidFill>
            <a:prstDash val="solid"/>
          </a:ln>
        </p:spPr>
      </p:sp>
      <p:sp>
        <p:nvSpPr>
          <p:cNvPr id="13" name="Text 11"/>
          <p:cNvSpPr txBox="1"/>
          <p:nvPr/>
        </p:nvSpPr>
        <p:spPr>
          <a:xfrm>
            <a:off x="5806440" y="1920240"/>
            <a:ext cx="2743200" cy="567690"/>
          </a:xfrm>
          <a:prstGeom prst="rect">
            <a:avLst/>
          </a:prstGeom>
          <a:noFill/>
        </p:spPr>
        <p:txBody>
          <a:bodyPr wrap="square" lIns="0" tIns="0" rIns="0" bIns="0" rtlCol="0" anchor="ctr"/>
          <a:lstStyle/>
          <a:p>
            <a:pPr marL="0" indent="0">
              <a:buNone/>
            </a:pPr>
            <a:r>
              <a:rPr lang="en-US" sz="1050"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Weeks 8–10</a:t>
            </a:r>
            <a:endParaRPr lang="en-US" sz="1050" dirty="0"/>
          </a:p>
        </p:txBody>
      </p:sp>
      <p:sp>
        <p:nvSpPr>
          <p:cNvPr id="14" name="Text 12"/>
          <p:cNvSpPr txBox="1"/>
          <p:nvPr/>
        </p:nvSpPr>
        <p:spPr>
          <a:xfrm>
            <a:off x="5806440" y="2212975"/>
            <a:ext cx="2743200" cy="946150"/>
          </a:xfrm>
          <a:prstGeom prst="rect">
            <a:avLst/>
          </a:prstGeom>
          <a:noFill/>
        </p:spPr>
        <p:txBody>
          <a:bodyPr wrap="square" lIns="0" tIns="0" rIns="0" bIns="0" rtlCol="0" anchor="ctr"/>
          <a:lstStyle/>
          <a:p>
            <a:pPr marL="0" indent="0">
              <a:buNone/>
            </a:pPr>
            <a:r>
              <a:rPr lang="en-US" sz="1500" b="1" dirty="0">
                <a:solidFill>
                  <a:srgbClr val="EEF2EF"/>
                </a:solidFill>
                <a:latin typeface="Calibri" pitchFamily="34" charset="0"/>
                <a:ea typeface="Calibri" pitchFamily="34" charset="-122"/>
                <a:cs typeface="Calibri" pitchFamily="34" charset="-120"/>
              </a:rPr>
              <a:t>Manual settlement</a:t>
            </a:r>
            <a:endParaRPr lang="en-US" sz="1500" dirty="0"/>
          </a:p>
        </p:txBody>
      </p:sp>
      <p:sp>
        <p:nvSpPr>
          <p:cNvPr id="15" name="Text 13"/>
          <p:cNvSpPr txBox="1"/>
          <p:nvPr/>
        </p:nvSpPr>
        <p:spPr>
          <a:xfrm>
            <a:off x="5806440" y="2743200"/>
            <a:ext cx="2743200" cy="2113280"/>
          </a:xfrm>
          <a:prstGeom prst="rect">
            <a:avLst/>
          </a:prstGeom>
          <a:noFill/>
        </p:spPr>
        <p:txBody>
          <a:bodyPr wrap="square" lIns="0" tIns="0" rIns="0" bIns="0" rtlCol="0" anchor="ctr"/>
          <a:lstStyle/>
          <a:p>
            <a:pPr marL="342900" indent="-342900">
              <a:lnSpc>
                <a:spcPct val="125000"/>
              </a:lnSpc>
              <a:spcAft>
                <a:spcPts val="600"/>
              </a:spcAft>
              <a:buSzPct val="100000"/>
              <a:buChar char="•"/>
            </a:pPr>
            <a:r>
              <a:rPr lang="en-US" sz="1200" dirty="0">
                <a:solidFill>
                  <a:srgbClr val="93A39D"/>
                </a:solidFill>
                <a:latin typeface="Calibri" pitchFamily="34" charset="0"/>
                <a:ea typeface="Calibri" pitchFamily="34" charset="-122"/>
                <a:cs typeface="Calibri" pitchFamily="34" charset="-120"/>
              </a:rPr>
              <a:t>Available SCADA feeder read</a:t>
            </a:r>
            <a:endParaRPr lang="en-US" sz="1200" dirty="0"/>
          </a:p>
          <a:p>
            <a:pPr marL="342900" indent="-342900">
              <a:lnSpc>
                <a:spcPct val="125000"/>
              </a:lnSpc>
              <a:spcAft>
                <a:spcPts val="600"/>
              </a:spcAft>
              <a:buSzPct val="100000"/>
              <a:buChar char="•"/>
            </a:pPr>
            <a:r>
              <a:rPr lang="en-US" sz="1200" dirty="0">
                <a:solidFill>
                  <a:srgbClr val="93A39D"/>
                </a:solidFill>
                <a:latin typeface="Calibri" pitchFamily="34" charset="0"/>
                <a:ea typeface="Calibri" pitchFamily="34" charset="-122"/>
                <a:cs typeface="Calibri" pitchFamily="34" charset="-120"/>
              </a:rPr>
              <a:t>No DISCOM integration yet</a:t>
            </a:r>
            <a:endParaRPr lang="en-US" sz="1200" dirty="0"/>
          </a:p>
        </p:txBody>
      </p:sp>
      <p:sp>
        <p:nvSpPr>
          <p:cNvPr id="16" name="Shape 14"/>
          <p:cNvSpPr/>
          <p:nvPr/>
        </p:nvSpPr>
        <p:spPr>
          <a:xfrm>
            <a:off x="8549640" y="1783080"/>
            <a:ext cx="2404745" cy="635"/>
          </a:xfrm>
          <a:prstGeom prst="line">
            <a:avLst/>
          </a:prstGeom>
          <a:noFill/>
          <a:ln w="31750">
            <a:solidFill>
              <a:schemeClr val="bg1"/>
            </a:solidFill>
            <a:prstDash val="solid"/>
          </a:ln>
        </p:spPr>
      </p:sp>
      <p:sp>
        <p:nvSpPr>
          <p:cNvPr id="17" name="Text 15"/>
          <p:cNvSpPr txBox="1"/>
          <p:nvPr/>
        </p:nvSpPr>
        <p:spPr>
          <a:xfrm>
            <a:off x="8549640" y="1920240"/>
            <a:ext cx="2743200" cy="567690"/>
          </a:xfrm>
          <a:prstGeom prst="rect">
            <a:avLst/>
          </a:prstGeom>
          <a:noFill/>
        </p:spPr>
        <p:txBody>
          <a:bodyPr wrap="square" lIns="0" tIns="0" rIns="0" bIns="0" rtlCol="0" anchor="ctr"/>
          <a:lstStyle/>
          <a:p>
            <a:pPr marL="0" indent="0">
              <a:buNone/>
            </a:pPr>
            <a:r>
              <a:rPr lang="en-US" sz="1050" dirty="0">
                <a:solidFill>
                  <a:srgbClr val="93A39D"/>
                </a:solidFill>
                <a:latin typeface="Courier New" panose="02070409020205090404" pitchFamily="34" charset="0"/>
                <a:ea typeface="Courier New" panose="02070409020205090404" pitchFamily="34" charset="-122"/>
                <a:cs typeface="Courier New" panose="02070409020205090404" pitchFamily="34" charset="-120"/>
              </a:rPr>
              <a:t>Weeks 11–12</a:t>
            </a:r>
            <a:endParaRPr lang="en-US" sz="1050" dirty="0"/>
          </a:p>
        </p:txBody>
      </p:sp>
      <p:sp>
        <p:nvSpPr>
          <p:cNvPr id="18" name="Text 16"/>
          <p:cNvSpPr txBox="1"/>
          <p:nvPr/>
        </p:nvSpPr>
        <p:spPr>
          <a:xfrm>
            <a:off x="8549640" y="2212975"/>
            <a:ext cx="2743200" cy="946150"/>
          </a:xfrm>
          <a:prstGeom prst="rect">
            <a:avLst/>
          </a:prstGeom>
          <a:noFill/>
        </p:spPr>
        <p:txBody>
          <a:bodyPr wrap="square" lIns="0" tIns="0" rIns="0" bIns="0" rtlCol="0" anchor="ctr"/>
          <a:lstStyle/>
          <a:p>
            <a:pPr marL="0" indent="0">
              <a:buNone/>
            </a:pPr>
            <a:r>
              <a:rPr lang="en-US" sz="1500" b="1" dirty="0">
                <a:solidFill>
                  <a:srgbClr val="EEF2EF"/>
                </a:solidFill>
                <a:latin typeface="Calibri" pitchFamily="34" charset="0"/>
                <a:ea typeface="Calibri" pitchFamily="34" charset="-122"/>
                <a:cs typeface="Calibri" pitchFamily="34" charset="-120"/>
              </a:rPr>
              <a:t>Validate trust</a:t>
            </a:r>
            <a:endParaRPr lang="en-US" sz="1500" dirty="0"/>
          </a:p>
        </p:txBody>
      </p:sp>
      <p:sp>
        <p:nvSpPr>
          <p:cNvPr id="19" name="Text 17"/>
          <p:cNvSpPr txBox="1"/>
          <p:nvPr/>
        </p:nvSpPr>
        <p:spPr>
          <a:xfrm>
            <a:off x="8549640" y="2743200"/>
            <a:ext cx="2743200" cy="2113280"/>
          </a:xfrm>
          <a:prstGeom prst="rect">
            <a:avLst/>
          </a:prstGeom>
          <a:noFill/>
        </p:spPr>
        <p:txBody>
          <a:bodyPr wrap="square" lIns="0" tIns="0" rIns="0" bIns="0" rtlCol="0" anchor="ctr"/>
          <a:lstStyle/>
          <a:p>
            <a:pPr marL="342900" indent="-342900">
              <a:lnSpc>
                <a:spcPct val="125000"/>
              </a:lnSpc>
              <a:spcAft>
                <a:spcPts val="600"/>
              </a:spcAft>
              <a:buSzPct val="100000"/>
              <a:buChar char="•"/>
            </a:pPr>
            <a:r>
              <a:rPr lang="en-US" sz="1200" dirty="0">
                <a:solidFill>
                  <a:srgbClr val="93A39D"/>
                </a:solidFill>
                <a:latin typeface="Calibri" pitchFamily="34" charset="0"/>
                <a:ea typeface="Calibri" pitchFamily="34" charset="-122"/>
                <a:cs typeface="Calibri" pitchFamily="34" charset="-120"/>
              </a:rPr>
              <a:t>Reserve dispatch in practice</a:t>
            </a:r>
            <a:endParaRPr lang="en-US" sz="1200" dirty="0"/>
          </a:p>
          <a:p>
            <a:pPr marL="342900" indent="-342900">
              <a:lnSpc>
                <a:spcPct val="125000"/>
              </a:lnSpc>
              <a:spcAft>
                <a:spcPts val="600"/>
              </a:spcAft>
              <a:buSzPct val="100000"/>
              <a:buChar char="•"/>
            </a:pPr>
            <a:r>
              <a:rPr lang="en-US" sz="1200" dirty="0">
                <a:solidFill>
                  <a:srgbClr val="93A39D"/>
                </a:solidFill>
                <a:latin typeface="Calibri" pitchFamily="34" charset="0"/>
                <a:ea typeface="Calibri" pitchFamily="34" charset="-122"/>
                <a:cs typeface="Calibri" pitchFamily="34" charset="-120"/>
              </a:rPr>
              <a:t>Homeowner tier behaviour</a:t>
            </a:r>
            <a:endParaRPr lang="en-US" sz="1200" dirty="0"/>
          </a:p>
        </p:txBody>
      </p:sp>
      <p:sp>
        <p:nvSpPr>
          <p:cNvPr id="20" name="Text 18"/>
          <p:cNvSpPr txBox="1"/>
          <p:nvPr/>
        </p:nvSpPr>
        <p:spPr>
          <a:xfrm>
            <a:off x="548640" y="6473952"/>
            <a:ext cx="5486400" cy="274320"/>
          </a:xfrm>
          <a:prstGeom prst="rect">
            <a:avLst/>
          </a:prstGeom>
          <a:noFill/>
        </p:spPr>
        <p:txBody>
          <a:bodyPr wrap="square" lIns="0" tIns="0" rIns="0" bIns="0" rtlCol="0" anchor="ctr"/>
          <a:lstStyle/>
          <a:p>
            <a:pPr marL="0" indent="0">
              <a:buNone/>
            </a:pPr>
            <a:endParaRPr lang="en-US" sz="1000" dirty="0"/>
          </a:p>
        </p:txBody>
      </p:sp>
      <p:sp>
        <p:nvSpPr>
          <p:cNvPr id="21" name="Text 19"/>
          <p:cNvSpPr txBox="1"/>
          <p:nvPr/>
        </p:nvSpPr>
        <p:spPr>
          <a:xfrm>
            <a:off x="8899855" y="6473952"/>
            <a:ext cx="2743200" cy="274320"/>
          </a:xfrm>
          <a:prstGeom prst="rect">
            <a:avLst/>
          </a:prstGeom>
          <a:noFill/>
        </p:spPr>
        <p:txBody>
          <a:bodyPr wrap="square" lIns="0" tIns="0" rIns="0" bIns="0" rtlCol="0" anchor="ctr"/>
          <a:lstStyle/>
          <a:p>
            <a:pPr marL="0" indent="0" algn="r">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A17"/>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9144000" cy="320040"/>
          </a:xfrm>
          <a:prstGeom prst="rect">
            <a:avLst/>
          </a:prstGeom>
          <a:noFill/>
        </p:spPr>
        <p:txBody>
          <a:bodyPr wrap="square" lIns="0" tIns="0" rIns="0" bIns="0" rtlCol="0" anchor="ctr"/>
          <a:lstStyle/>
          <a:p>
            <a:pPr marL="0" indent="0">
              <a:buNone/>
            </a:pPr>
            <a:r>
              <a:rPr lang="en-US" sz="2400" b="1" dirty="0">
                <a:solidFill>
                  <a:schemeClr val="accent6"/>
                </a:solidFill>
                <a:latin typeface="Calibri" pitchFamily="34" charset="0"/>
                <a:ea typeface="Calibri" pitchFamily="34" charset="-122"/>
                <a:cs typeface="Calibri" pitchFamily="34" charset="-120"/>
              </a:rPr>
              <a:t>Risks</a:t>
            </a:r>
            <a:endParaRPr lang="en-US" sz="2400" b="1" dirty="0">
              <a:solidFill>
                <a:schemeClr val="accent6"/>
              </a:solidFill>
              <a:latin typeface="Calibri" pitchFamily="34" charset="0"/>
              <a:ea typeface="Calibri" pitchFamily="34" charset="-122"/>
              <a:cs typeface="Calibri" pitchFamily="34" charset="-120"/>
            </a:endParaRPr>
          </a:p>
        </p:txBody>
      </p:sp>
      <p:sp>
        <p:nvSpPr>
          <p:cNvPr id="3" name="Text 1"/>
          <p:cNvSpPr txBox="1"/>
          <p:nvPr/>
        </p:nvSpPr>
        <p:spPr>
          <a:xfrm>
            <a:off x="548640" y="713232"/>
            <a:ext cx="11064240" cy="822960"/>
          </a:xfrm>
          <a:prstGeom prst="rect">
            <a:avLst/>
          </a:prstGeom>
          <a:noFill/>
        </p:spPr>
        <p:txBody>
          <a:bodyPr wrap="square" lIns="0" tIns="0" rIns="0" bIns="0" rtlCol="0" anchor="ctr"/>
          <a:lstStyle/>
          <a:p>
            <a:pPr marL="0" indent="0">
              <a:buNone/>
            </a:pPr>
            <a:r>
              <a:rPr lang="en-US" b="1" dirty="0">
                <a:solidFill>
                  <a:srgbClr val="EEF2EF"/>
                </a:solidFill>
                <a:latin typeface="Cambria" pitchFamily="34" charset="0"/>
                <a:ea typeface="Cambria" pitchFamily="34" charset="-122"/>
                <a:cs typeface="Cambria" pitchFamily="34" charset="-120"/>
              </a:rPr>
              <a:t>What we haven’t solved yet, stated up front</a:t>
            </a:r>
            <a:endParaRPr lang="en-US" dirty="0"/>
          </a:p>
        </p:txBody>
      </p:sp>
      <p:sp>
        <p:nvSpPr>
          <p:cNvPr id="4" name="Text 2"/>
          <p:cNvSpPr txBox="1"/>
          <p:nvPr/>
        </p:nvSpPr>
        <p:spPr>
          <a:xfrm>
            <a:off x="548640" y="1746504"/>
            <a:ext cx="5120640" cy="475488"/>
          </a:xfrm>
          <a:prstGeom prst="rect">
            <a:avLst/>
          </a:prstGeom>
          <a:noFill/>
        </p:spPr>
        <p:txBody>
          <a:bodyPr wrap="square" lIns="0" tIns="0" rIns="0" bIns="0" rtlCol="0" anchor="t"/>
          <a:lstStyle/>
          <a:p>
            <a:pPr marL="0" indent="0">
              <a:buNone/>
            </a:pPr>
            <a:r>
              <a:rPr lang="en-US" sz="1350" dirty="0">
                <a:solidFill>
                  <a:srgbClr val="EEF2EF"/>
                </a:solidFill>
                <a:latin typeface="Calibri" pitchFamily="34" charset="0"/>
                <a:ea typeface="Calibri" pitchFamily="34" charset="-122"/>
                <a:cs typeface="Calibri" pitchFamily="34" charset="-120"/>
              </a:rPr>
              <a:t>Cybersecurity of dispatch commands</a:t>
            </a:r>
            <a:endParaRPr lang="en-US" sz="1350" dirty="0"/>
          </a:p>
        </p:txBody>
      </p:sp>
      <p:sp>
        <p:nvSpPr>
          <p:cNvPr id="5" name="Text 3"/>
          <p:cNvSpPr txBox="1"/>
          <p:nvPr/>
        </p:nvSpPr>
        <p:spPr>
          <a:xfrm>
            <a:off x="5943600" y="1746504"/>
            <a:ext cx="5486400" cy="475488"/>
          </a:xfrm>
          <a:prstGeom prst="rect">
            <a:avLst/>
          </a:prstGeom>
          <a:noFill/>
        </p:spPr>
        <p:txBody>
          <a:bodyPr wrap="square" lIns="0" tIns="0" rIns="0" bIns="0" rtlCol="0" anchor="t"/>
          <a:lstStyle/>
          <a:p>
            <a:pPr marL="0" indent="0">
              <a:buNone/>
            </a:pPr>
            <a:r>
              <a:rPr lang="en-US" sz="1300" dirty="0">
                <a:solidFill>
                  <a:srgbClr val="93A39D"/>
                </a:solidFill>
                <a:latin typeface="Calibri" pitchFamily="34" charset="0"/>
                <a:ea typeface="Calibri" pitchFamily="34" charset="-122"/>
                <a:cs typeface="Calibri" pitchFamily="34" charset="-120"/>
              </a:rPr>
              <a:t>Authenticated MQTT, signed commands and not yet designed in detail.</a:t>
            </a:r>
            <a:endParaRPr lang="en-US" sz="1300" dirty="0"/>
          </a:p>
        </p:txBody>
      </p:sp>
      <p:sp>
        <p:nvSpPr>
          <p:cNvPr id="6" name="Shape 4"/>
          <p:cNvSpPr/>
          <p:nvPr/>
        </p:nvSpPr>
        <p:spPr>
          <a:xfrm>
            <a:off x="548640" y="2258568"/>
            <a:ext cx="11064240" cy="0"/>
          </a:xfrm>
          <a:prstGeom prst="line">
            <a:avLst/>
          </a:prstGeom>
          <a:noFill/>
          <a:ln w="12700">
            <a:solidFill>
              <a:srgbClr val="26342F"/>
            </a:solidFill>
            <a:prstDash val="solid"/>
          </a:ln>
        </p:spPr>
      </p:sp>
      <p:sp>
        <p:nvSpPr>
          <p:cNvPr id="7" name="Text 5"/>
          <p:cNvSpPr txBox="1"/>
          <p:nvPr/>
        </p:nvSpPr>
        <p:spPr>
          <a:xfrm>
            <a:off x="548640" y="2313432"/>
            <a:ext cx="5120640" cy="475488"/>
          </a:xfrm>
          <a:prstGeom prst="rect">
            <a:avLst/>
          </a:prstGeom>
          <a:noFill/>
        </p:spPr>
        <p:txBody>
          <a:bodyPr wrap="square" lIns="0" tIns="0" rIns="0" bIns="0" rtlCol="0" anchor="t"/>
          <a:lstStyle/>
          <a:p>
            <a:pPr marL="0" indent="0">
              <a:buNone/>
            </a:pPr>
            <a:r>
              <a:rPr lang="en-US" sz="1350" dirty="0">
                <a:solidFill>
                  <a:srgbClr val="EEF2EF"/>
                </a:solidFill>
                <a:latin typeface="Calibri" pitchFamily="34" charset="0"/>
                <a:ea typeface="Calibri" pitchFamily="34" charset="-122"/>
                <a:cs typeface="Calibri" pitchFamily="34" charset="-120"/>
              </a:rPr>
              <a:t>Reserve model unvalidated against real telemetry</a:t>
            </a:r>
            <a:endParaRPr lang="en-US" sz="1350" dirty="0"/>
          </a:p>
        </p:txBody>
      </p:sp>
      <p:sp>
        <p:nvSpPr>
          <p:cNvPr id="8" name="Text 6"/>
          <p:cNvSpPr txBox="1"/>
          <p:nvPr/>
        </p:nvSpPr>
        <p:spPr>
          <a:xfrm>
            <a:off x="5943600" y="2313432"/>
            <a:ext cx="5486400" cy="475488"/>
          </a:xfrm>
          <a:prstGeom prst="rect">
            <a:avLst/>
          </a:prstGeom>
          <a:noFill/>
        </p:spPr>
        <p:txBody>
          <a:bodyPr wrap="square" lIns="0" tIns="0" rIns="0" bIns="0" rtlCol="0" anchor="t"/>
          <a:lstStyle/>
          <a:p>
            <a:pPr marL="0" indent="0">
              <a:buNone/>
            </a:pPr>
            <a:r>
              <a:rPr lang="en-US" sz="1300" dirty="0">
                <a:solidFill>
                  <a:srgbClr val="93A39D"/>
                </a:solidFill>
                <a:latin typeface="Calibri" pitchFamily="34" charset="0"/>
                <a:ea typeface="Calibri" pitchFamily="34" charset="-122"/>
                <a:cs typeface="Calibri" pitchFamily="34" charset="-120"/>
              </a:rPr>
              <a:t>Phase 1 pilot exists to validate this.</a:t>
            </a:r>
            <a:endParaRPr lang="en-US" sz="1300" dirty="0"/>
          </a:p>
        </p:txBody>
      </p:sp>
      <p:sp>
        <p:nvSpPr>
          <p:cNvPr id="9" name="Shape 7"/>
          <p:cNvSpPr/>
          <p:nvPr/>
        </p:nvSpPr>
        <p:spPr>
          <a:xfrm>
            <a:off x="548640" y="2825496"/>
            <a:ext cx="11064240" cy="0"/>
          </a:xfrm>
          <a:prstGeom prst="line">
            <a:avLst/>
          </a:prstGeom>
          <a:noFill/>
          <a:ln w="12700">
            <a:solidFill>
              <a:srgbClr val="26342F"/>
            </a:solidFill>
            <a:prstDash val="solid"/>
          </a:ln>
        </p:spPr>
      </p:sp>
      <p:sp>
        <p:nvSpPr>
          <p:cNvPr id="10" name="Text 8"/>
          <p:cNvSpPr txBox="1"/>
          <p:nvPr/>
        </p:nvSpPr>
        <p:spPr>
          <a:xfrm>
            <a:off x="548640" y="2880360"/>
            <a:ext cx="5120640" cy="475488"/>
          </a:xfrm>
          <a:prstGeom prst="rect">
            <a:avLst/>
          </a:prstGeom>
          <a:noFill/>
        </p:spPr>
        <p:txBody>
          <a:bodyPr wrap="square" lIns="0" tIns="0" rIns="0" bIns="0" rtlCol="0" anchor="t"/>
          <a:lstStyle/>
          <a:p>
            <a:pPr marL="0" indent="0">
              <a:buNone/>
            </a:pPr>
            <a:r>
              <a:rPr lang="en-US" sz="1350" dirty="0">
                <a:solidFill>
                  <a:srgbClr val="EEF2EF"/>
                </a:solidFill>
                <a:latin typeface="Calibri" pitchFamily="34" charset="0"/>
                <a:ea typeface="Calibri" pitchFamily="34" charset="-122"/>
                <a:cs typeface="Calibri" pitchFamily="34" charset="-120"/>
              </a:rPr>
              <a:t>Will homeowners actually trust the tiers?</a:t>
            </a:r>
            <a:endParaRPr lang="en-US" sz="1350" dirty="0"/>
          </a:p>
        </p:txBody>
      </p:sp>
      <p:sp>
        <p:nvSpPr>
          <p:cNvPr id="11" name="Text 9"/>
          <p:cNvSpPr txBox="1"/>
          <p:nvPr/>
        </p:nvSpPr>
        <p:spPr>
          <a:xfrm>
            <a:off x="5943600" y="2880360"/>
            <a:ext cx="5486400" cy="475488"/>
          </a:xfrm>
          <a:prstGeom prst="rect">
            <a:avLst/>
          </a:prstGeom>
          <a:noFill/>
        </p:spPr>
        <p:txBody>
          <a:bodyPr wrap="square" lIns="0" tIns="0" rIns="0" bIns="0" rtlCol="0" anchor="t"/>
          <a:lstStyle/>
          <a:p>
            <a:pPr marL="0" indent="0">
              <a:buNone/>
            </a:pPr>
            <a:r>
              <a:rPr lang="en-US" sz="1300" dirty="0">
                <a:solidFill>
                  <a:srgbClr val="93A39D"/>
                </a:solidFill>
                <a:latin typeface="Calibri" pitchFamily="34" charset="0"/>
                <a:ea typeface="Calibri" pitchFamily="34" charset="-122"/>
                <a:cs typeface="Calibri" pitchFamily="34" charset="-120"/>
              </a:rPr>
              <a:t>User-tested in Phase 1, not assumed.</a:t>
            </a:r>
            <a:endParaRPr lang="en-US" sz="1300" dirty="0"/>
          </a:p>
        </p:txBody>
      </p:sp>
      <p:sp>
        <p:nvSpPr>
          <p:cNvPr id="12" name="Shape 10"/>
          <p:cNvSpPr/>
          <p:nvPr/>
        </p:nvSpPr>
        <p:spPr>
          <a:xfrm>
            <a:off x="548640" y="3392424"/>
            <a:ext cx="11064240" cy="0"/>
          </a:xfrm>
          <a:prstGeom prst="line">
            <a:avLst/>
          </a:prstGeom>
          <a:noFill/>
          <a:ln w="12700">
            <a:solidFill>
              <a:srgbClr val="26342F"/>
            </a:solidFill>
            <a:prstDash val="solid"/>
          </a:ln>
        </p:spPr>
      </p:sp>
      <p:sp>
        <p:nvSpPr>
          <p:cNvPr id="13" name="Text 11"/>
          <p:cNvSpPr txBox="1"/>
          <p:nvPr/>
        </p:nvSpPr>
        <p:spPr>
          <a:xfrm>
            <a:off x="548640" y="3447288"/>
            <a:ext cx="5120640" cy="475488"/>
          </a:xfrm>
          <a:prstGeom prst="rect">
            <a:avLst/>
          </a:prstGeom>
          <a:noFill/>
        </p:spPr>
        <p:txBody>
          <a:bodyPr wrap="square" lIns="0" tIns="0" rIns="0" bIns="0" rtlCol="0" anchor="t"/>
          <a:lstStyle/>
          <a:p>
            <a:pPr marL="0" indent="0">
              <a:buNone/>
            </a:pPr>
            <a:r>
              <a:rPr lang="en-US" sz="1350" dirty="0">
                <a:solidFill>
                  <a:srgbClr val="EEF2EF"/>
                </a:solidFill>
                <a:latin typeface="Calibri" pitchFamily="34" charset="0"/>
                <a:ea typeface="Calibri" pitchFamily="34" charset="-122"/>
                <a:cs typeface="Calibri" pitchFamily="34" charset="-120"/>
              </a:rPr>
              <a:t>Rule-based dispatch is a simplification</a:t>
            </a:r>
            <a:endParaRPr lang="en-US" sz="1350" dirty="0"/>
          </a:p>
        </p:txBody>
      </p:sp>
      <p:sp>
        <p:nvSpPr>
          <p:cNvPr id="14" name="Text 12"/>
          <p:cNvSpPr txBox="1"/>
          <p:nvPr/>
        </p:nvSpPr>
        <p:spPr>
          <a:xfrm>
            <a:off x="5943600" y="3447288"/>
            <a:ext cx="5486400" cy="475488"/>
          </a:xfrm>
          <a:prstGeom prst="rect">
            <a:avLst/>
          </a:prstGeom>
          <a:noFill/>
        </p:spPr>
        <p:txBody>
          <a:bodyPr wrap="square" lIns="0" tIns="0" rIns="0" bIns="0" rtlCol="0" anchor="t"/>
          <a:lstStyle/>
          <a:p>
            <a:pPr marL="0" indent="0">
              <a:buNone/>
            </a:pPr>
            <a:r>
              <a:rPr lang="en-US" sz="1300" dirty="0">
                <a:solidFill>
                  <a:srgbClr val="93A39D"/>
                </a:solidFill>
                <a:latin typeface="Calibri" pitchFamily="34" charset="0"/>
                <a:ea typeface="Calibri" pitchFamily="34" charset="-122"/>
                <a:cs typeface="Calibri" pitchFamily="34" charset="-120"/>
              </a:rPr>
              <a:t>Phase 2 replaces it with a real optimiser.</a:t>
            </a:r>
            <a:endParaRPr lang="en-US" sz="1300" dirty="0"/>
          </a:p>
        </p:txBody>
      </p:sp>
      <p:sp>
        <p:nvSpPr>
          <p:cNvPr id="15" name="Shape 13"/>
          <p:cNvSpPr/>
          <p:nvPr/>
        </p:nvSpPr>
        <p:spPr>
          <a:xfrm>
            <a:off x="548640" y="3959352"/>
            <a:ext cx="11064240" cy="0"/>
          </a:xfrm>
          <a:prstGeom prst="line">
            <a:avLst/>
          </a:prstGeom>
          <a:noFill/>
          <a:ln w="12700">
            <a:solidFill>
              <a:srgbClr val="26342F"/>
            </a:solidFill>
            <a:prstDash val="solid"/>
          </a:ln>
        </p:spPr>
      </p:sp>
      <p:sp>
        <p:nvSpPr>
          <p:cNvPr id="16" name="Text 14"/>
          <p:cNvSpPr txBox="1"/>
          <p:nvPr/>
        </p:nvSpPr>
        <p:spPr>
          <a:xfrm>
            <a:off x="548640" y="4014216"/>
            <a:ext cx="5120640" cy="475488"/>
          </a:xfrm>
          <a:prstGeom prst="rect">
            <a:avLst/>
          </a:prstGeom>
          <a:noFill/>
        </p:spPr>
        <p:txBody>
          <a:bodyPr wrap="square" lIns="0" tIns="0" rIns="0" bIns="0" rtlCol="0" anchor="t"/>
          <a:lstStyle/>
          <a:p>
            <a:pPr marL="0" indent="0">
              <a:buNone/>
            </a:pPr>
            <a:r>
              <a:rPr lang="en-US" sz="1350" dirty="0">
                <a:solidFill>
                  <a:srgbClr val="EEF2EF"/>
                </a:solidFill>
                <a:latin typeface="Calibri" pitchFamily="34" charset="0"/>
                <a:ea typeface="Calibri" pitchFamily="34" charset="-122"/>
                <a:cs typeface="Calibri" pitchFamily="34" charset="-120"/>
              </a:rPr>
              <a:t>Transformer costs are cross-state</a:t>
            </a:r>
            <a:endParaRPr lang="en-US" sz="1350" dirty="0"/>
          </a:p>
        </p:txBody>
      </p:sp>
      <p:sp>
        <p:nvSpPr>
          <p:cNvPr id="17" name="Text 15"/>
          <p:cNvSpPr txBox="1"/>
          <p:nvPr/>
        </p:nvSpPr>
        <p:spPr>
          <a:xfrm>
            <a:off x="5943600" y="4014216"/>
            <a:ext cx="5486400" cy="475488"/>
          </a:xfrm>
          <a:prstGeom prst="rect">
            <a:avLst/>
          </a:prstGeom>
          <a:noFill/>
        </p:spPr>
        <p:txBody>
          <a:bodyPr wrap="square" lIns="0" tIns="0" rIns="0" bIns="0" rtlCol="0" anchor="t"/>
          <a:lstStyle/>
          <a:p>
            <a:pPr marL="0" indent="0">
              <a:buNone/>
            </a:pPr>
            <a:r>
              <a:rPr lang="en-US" sz="1300" dirty="0">
                <a:solidFill>
                  <a:srgbClr val="93A39D"/>
                </a:solidFill>
                <a:latin typeface="Calibri" pitchFamily="34" charset="0"/>
                <a:ea typeface="Calibri" pitchFamily="34" charset="-122"/>
                <a:cs typeface="Calibri" pitchFamily="34" charset="-120"/>
              </a:rPr>
              <a:t>Illustrative; pilot needs a Gujarat-specific quote.</a:t>
            </a:r>
            <a:endParaRPr lang="en-US" sz="1300" dirty="0"/>
          </a:p>
        </p:txBody>
      </p:sp>
      <p:sp>
        <p:nvSpPr>
          <p:cNvPr id="18" name="Text 16"/>
          <p:cNvSpPr txBox="1"/>
          <p:nvPr/>
        </p:nvSpPr>
        <p:spPr>
          <a:xfrm>
            <a:off x="548640" y="4754880"/>
            <a:ext cx="10515600" cy="457200"/>
          </a:xfrm>
          <a:prstGeom prst="rect">
            <a:avLst/>
          </a:prstGeom>
          <a:noFill/>
        </p:spPr>
        <p:txBody>
          <a:bodyPr wrap="square" lIns="0" tIns="0" rIns="0" bIns="0" rtlCol="0" anchor="ctr"/>
          <a:lstStyle/>
          <a:p>
            <a:pPr marL="0" indent="0">
              <a:buNone/>
            </a:pPr>
            <a:r>
              <a:rPr lang="en-US" sz="1500" i="1" dirty="0">
                <a:solidFill>
                  <a:srgbClr val="EEF2EF"/>
                </a:solidFill>
                <a:latin typeface="Cambria" pitchFamily="34" charset="0"/>
                <a:ea typeface="Cambria" pitchFamily="34" charset="-122"/>
                <a:cs typeface="Cambria" pitchFamily="34" charset="-120"/>
              </a:rPr>
              <a:t>Every number in this deck is either a cited public source or a labelled assumption and nothing here is decorative.</a:t>
            </a:r>
            <a:endParaRPr lang="en-US" sz="1500" dirty="0"/>
          </a:p>
        </p:txBody>
      </p:sp>
      <p:sp>
        <p:nvSpPr>
          <p:cNvPr id="19" name="Text 17"/>
          <p:cNvSpPr txBox="1"/>
          <p:nvPr/>
        </p:nvSpPr>
        <p:spPr>
          <a:xfrm>
            <a:off x="548640" y="6473952"/>
            <a:ext cx="5486400" cy="274320"/>
          </a:xfrm>
          <a:prstGeom prst="rect">
            <a:avLst/>
          </a:prstGeom>
          <a:noFill/>
        </p:spPr>
        <p:txBody>
          <a:bodyPr wrap="square" lIns="0" tIns="0" rIns="0" bIns="0" rtlCol="0" anchor="ctr"/>
          <a:lstStyle/>
          <a:p>
            <a:pPr marL="0" indent="0">
              <a:buNone/>
            </a:pPr>
            <a:endParaRPr lang="en-US" sz="1000" dirty="0"/>
          </a:p>
        </p:txBody>
      </p:sp>
      <p:sp>
        <p:nvSpPr>
          <p:cNvPr id="20" name="Text 18"/>
          <p:cNvSpPr txBox="1"/>
          <p:nvPr/>
        </p:nvSpPr>
        <p:spPr>
          <a:xfrm>
            <a:off x="8899855" y="6473952"/>
            <a:ext cx="2743200" cy="274320"/>
          </a:xfrm>
          <a:prstGeom prst="rect">
            <a:avLst/>
          </a:prstGeom>
          <a:noFill/>
        </p:spPr>
        <p:txBody>
          <a:bodyPr wrap="square" lIns="0" tIns="0" rIns="0" bIns="0" rtlCol="0" anchor="ctr"/>
          <a:lstStyle/>
          <a:p>
            <a:pPr marL="0" indent="0" algn="r">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4086</Words>
  <Application>WPS Presentation</Application>
  <PresentationFormat>On-screen Show (16:9)</PresentationFormat>
  <Paragraphs>204</Paragraphs>
  <Slides>8</Slides>
  <Notes>8</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8</vt:i4>
      </vt:variant>
    </vt:vector>
  </HeadingPairs>
  <TitlesOfParts>
    <vt:vector size="28" baseType="lpstr">
      <vt:lpstr>Arial</vt:lpstr>
      <vt:lpstr>SimSun</vt:lpstr>
      <vt:lpstr>Wingdings</vt:lpstr>
      <vt:lpstr>Calibri</vt:lpstr>
      <vt:lpstr>Helvetica Neue</vt:lpstr>
      <vt:lpstr>Calibri</vt:lpstr>
      <vt:lpstr>Calibri</vt:lpstr>
      <vt:lpstr>Cambria</vt:lpstr>
      <vt:lpstr>Cambria</vt:lpstr>
      <vt:lpstr>Cambria</vt:lpstr>
      <vt:lpstr>Courier New</vt:lpstr>
      <vt:lpstr>Courier New</vt:lpstr>
      <vt:lpstr>Courier New</vt:lpstr>
      <vt:lpstr>苹方-简</vt:lpstr>
      <vt:lpstr>Microsoft YaHei</vt:lpstr>
      <vt:lpstr>汉仪旗黑</vt:lpstr>
      <vt:lpstr>Arial Unicode MS</vt:lpstr>
      <vt:lpstr>November Bangla Traditional</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Charadva Jenil</cp:lastModifiedBy>
  <cp:revision>3</cp:revision>
  <dcterms:created xsi:type="dcterms:W3CDTF">2026-09-27T01:00:45Z</dcterms:created>
  <dcterms:modified xsi:type="dcterms:W3CDTF">2026-09-27T01:00:45Z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1033-12.1.28496.28496</vt:lpwstr>
  </property>
  <property fmtid="{D5CDD505-2E9C-101B-9397-08002B2CF9AE}" pid="3" name="ICV">
    <vt:lpwstr>22708472ABBECC51BD6AB86A3F59F984_43</vt:lpwstr>
  </property>
</Properties>
</file>